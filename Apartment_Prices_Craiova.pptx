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8" r:id="rId4"/>
    <p:sldId id="269" r:id="rId5"/>
    <p:sldId id="268" r:id="rId6"/>
    <p:sldId id="259" r:id="rId7"/>
    <p:sldId id="260" r:id="rId8"/>
    <p:sldId id="261" r:id="rId9"/>
    <p:sldId id="262" r:id="rId10"/>
    <p:sldId id="263" r:id="rId11"/>
    <p:sldId id="264" r:id="rId12"/>
    <p:sldId id="265" r:id="rId13"/>
    <p:sldId id="270" r:id="rId14"/>
    <p:sldId id="271" r:id="rId15"/>
    <p:sldId id="272" r:id="rId16"/>
    <p:sldId id="266" r:id="rId17"/>
    <p:sldId id="273" r:id="rId18"/>
  </p:sldIdLst>
  <p:sldSz cx="12192000" cy="6858000"/>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D5D"/>
    <a:srgbClr val="ED8F65"/>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02A3B-6F12-6225-5778-E2C088F843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o-RO"/>
          </a:p>
        </p:txBody>
      </p:sp>
      <p:sp>
        <p:nvSpPr>
          <p:cNvPr id="3" name="Subtitle 2">
            <a:extLst>
              <a:ext uri="{FF2B5EF4-FFF2-40B4-BE49-F238E27FC236}">
                <a16:creationId xmlns:a16="http://schemas.microsoft.com/office/drawing/2014/main" id="{1DBCE95F-0CC0-E9B6-E561-17B3ED5020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o-RO"/>
          </a:p>
        </p:txBody>
      </p:sp>
      <p:sp>
        <p:nvSpPr>
          <p:cNvPr id="4" name="Date Placeholder 3">
            <a:extLst>
              <a:ext uri="{FF2B5EF4-FFF2-40B4-BE49-F238E27FC236}">
                <a16:creationId xmlns:a16="http://schemas.microsoft.com/office/drawing/2014/main" id="{2FF53883-359A-A307-2732-A8C52BE18DE5}"/>
              </a:ext>
            </a:extLst>
          </p:cNvPr>
          <p:cNvSpPr>
            <a:spLocks noGrp="1"/>
          </p:cNvSpPr>
          <p:nvPr>
            <p:ph type="dt" sz="half" idx="10"/>
          </p:nvPr>
        </p:nvSpPr>
        <p:spPr/>
        <p:txBody>
          <a:bodyPr/>
          <a:lstStyle/>
          <a:p>
            <a:fld id="{B4F88105-B876-40B1-B4B9-E60C6B883FEB}" type="datetimeFigureOut">
              <a:rPr lang="ro-RO" smtClean="0"/>
              <a:t>17.01.2026</a:t>
            </a:fld>
            <a:endParaRPr lang="ro-RO"/>
          </a:p>
        </p:txBody>
      </p:sp>
      <p:sp>
        <p:nvSpPr>
          <p:cNvPr id="5" name="Footer Placeholder 4">
            <a:extLst>
              <a:ext uri="{FF2B5EF4-FFF2-40B4-BE49-F238E27FC236}">
                <a16:creationId xmlns:a16="http://schemas.microsoft.com/office/drawing/2014/main" id="{1F9507E8-1EC8-AD6C-0257-C7A79EC46B85}"/>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4F78DA8E-9745-C2E2-394D-2A99713C1D24}"/>
              </a:ext>
            </a:extLst>
          </p:cNvPr>
          <p:cNvSpPr>
            <a:spLocks noGrp="1"/>
          </p:cNvSpPr>
          <p:nvPr>
            <p:ph type="sldNum" sz="quarter" idx="12"/>
          </p:nvPr>
        </p:nvSpPr>
        <p:spPr/>
        <p:txBody>
          <a:bodyPr/>
          <a:lstStyle/>
          <a:p>
            <a:fld id="{C990700B-A905-4B3C-AA8C-A45B8A3A6667}" type="slidenum">
              <a:rPr lang="ro-RO" smtClean="0"/>
              <a:t>‹#›</a:t>
            </a:fld>
            <a:endParaRPr lang="ro-RO"/>
          </a:p>
        </p:txBody>
      </p:sp>
    </p:spTree>
    <p:extLst>
      <p:ext uri="{BB962C8B-B14F-4D97-AF65-F5344CB8AC3E}">
        <p14:creationId xmlns:p14="http://schemas.microsoft.com/office/powerpoint/2010/main" val="2086854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5F669-5CD9-F010-1BDC-F722080428C1}"/>
              </a:ext>
            </a:extLst>
          </p:cNvPr>
          <p:cNvSpPr>
            <a:spLocks noGrp="1"/>
          </p:cNvSpPr>
          <p:nvPr>
            <p:ph type="title"/>
          </p:nvPr>
        </p:nvSpPr>
        <p:spPr/>
        <p:txBody>
          <a:bodyPr/>
          <a:lstStyle/>
          <a:p>
            <a:r>
              <a:rPr lang="en-US"/>
              <a:t>Click to edit Master title style</a:t>
            </a:r>
            <a:endParaRPr lang="ro-RO"/>
          </a:p>
        </p:txBody>
      </p:sp>
      <p:sp>
        <p:nvSpPr>
          <p:cNvPr id="3" name="Content Placeholder 2">
            <a:extLst>
              <a:ext uri="{FF2B5EF4-FFF2-40B4-BE49-F238E27FC236}">
                <a16:creationId xmlns:a16="http://schemas.microsoft.com/office/drawing/2014/main" id="{AFCE7170-8AEB-F99F-0BB7-5685B763A2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76C2EBE9-D0A0-F97C-2AE6-0D19B8A00E23}"/>
              </a:ext>
            </a:extLst>
          </p:cNvPr>
          <p:cNvSpPr>
            <a:spLocks noGrp="1"/>
          </p:cNvSpPr>
          <p:nvPr>
            <p:ph type="dt" sz="half" idx="10"/>
          </p:nvPr>
        </p:nvSpPr>
        <p:spPr/>
        <p:txBody>
          <a:bodyPr/>
          <a:lstStyle/>
          <a:p>
            <a:fld id="{B4F88105-B876-40B1-B4B9-E60C6B883FEB}" type="datetimeFigureOut">
              <a:rPr lang="ro-RO" smtClean="0"/>
              <a:t>17.01.2026</a:t>
            </a:fld>
            <a:endParaRPr lang="ro-RO"/>
          </a:p>
        </p:txBody>
      </p:sp>
      <p:sp>
        <p:nvSpPr>
          <p:cNvPr id="5" name="Footer Placeholder 4">
            <a:extLst>
              <a:ext uri="{FF2B5EF4-FFF2-40B4-BE49-F238E27FC236}">
                <a16:creationId xmlns:a16="http://schemas.microsoft.com/office/drawing/2014/main" id="{D5E73321-DD70-E1B6-4E6B-FCDE29398700}"/>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20CD556D-620B-8878-A829-01A40F724AA9}"/>
              </a:ext>
            </a:extLst>
          </p:cNvPr>
          <p:cNvSpPr>
            <a:spLocks noGrp="1"/>
          </p:cNvSpPr>
          <p:nvPr>
            <p:ph type="sldNum" sz="quarter" idx="12"/>
          </p:nvPr>
        </p:nvSpPr>
        <p:spPr/>
        <p:txBody>
          <a:bodyPr/>
          <a:lstStyle/>
          <a:p>
            <a:fld id="{C990700B-A905-4B3C-AA8C-A45B8A3A6667}" type="slidenum">
              <a:rPr lang="ro-RO" smtClean="0"/>
              <a:t>‹#›</a:t>
            </a:fld>
            <a:endParaRPr lang="ro-RO"/>
          </a:p>
        </p:txBody>
      </p:sp>
    </p:spTree>
    <p:extLst>
      <p:ext uri="{BB962C8B-B14F-4D97-AF65-F5344CB8AC3E}">
        <p14:creationId xmlns:p14="http://schemas.microsoft.com/office/powerpoint/2010/main" val="3706718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760A9-0969-ED6A-B885-C0A38FE8F5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o-RO"/>
          </a:p>
        </p:txBody>
      </p:sp>
      <p:sp>
        <p:nvSpPr>
          <p:cNvPr id="3" name="Text Placeholder 2">
            <a:extLst>
              <a:ext uri="{FF2B5EF4-FFF2-40B4-BE49-F238E27FC236}">
                <a16:creationId xmlns:a16="http://schemas.microsoft.com/office/drawing/2014/main" id="{D278263E-BA51-D8D6-5A50-9204A644F6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954B65-24B4-5222-96A9-C64C04FBF220}"/>
              </a:ext>
            </a:extLst>
          </p:cNvPr>
          <p:cNvSpPr>
            <a:spLocks noGrp="1"/>
          </p:cNvSpPr>
          <p:nvPr>
            <p:ph type="dt" sz="half" idx="10"/>
          </p:nvPr>
        </p:nvSpPr>
        <p:spPr/>
        <p:txBody>
          <a:bodyPr/>
          <a:lstStyle/>
          <a:p>
            <a:fld id="{B4F88105-B876-40B1-B4B9-E60C6B883FEB}" type="datetimeFigureOut">
              <a:rPr lang="ro-RO" smtClean="0"/>
              <a:t>17.01.2026</a:t>
            </a:fld>
            <a:endParaRPr lang="ro-RO"/>
          </a:p>
        </p:txBody>
      </p:sp>
      <p:sp>
        <p:nvSpPr>
          <p:cNvPr id="5" name="Footer Placeholder 4">
            <a:extLst>
              <a:ext uri="{FF2B5EF4-FFF2-40B4-BE49-F238E27FC236}">
                <a16:creationId xmlns:a16="http://schemas.microsoft.com/office/drawing/2014/main" id="{94B5FA94-58E1-2BC2-4BBD-4465BA9DF2DB}"/>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FB89B914-0D17-34FA-B9C9-2EEC915EBCDC}"/>
              </a:ext>
            </a:extLst>
          </p:cNvPr>
          <p:cNvSpPr>
            <a:spLocks noGrp="1"/>
          </p:cNvSpPr>
          <p:nvPr>
            <p:ph type="sldNum" sz="quarter" idx="12"/>
          </p:nvPr>
        </p:nvSpPr>
        <p:spPr/>
        <p:txBody>
          <a:bodyPr/>
          <a:lstStyle/>
          <a:p>
            <a:fld id="{C990700B-A905-4B3C-AA8C-A45B8A3A6667}" type="slidenum">
              <a:rPr lang="ro-RO" smtClean="0"/>
              <a:t>‹#›</a:t>
            </a:fld>
            <a:endParaRPr lang="ro-RO"/>
          </a:p>
        </p:txBody>
      </p:sp>
    </p:spTree>
    <p:extLst>
      <p:ext uri="{BB962C8B-B14F-4D97-AF65-F5344CB8AC3E}">
        <p14:creationId xmlns:p14="http://schemas.microsoft.com/office/powerpoint/2010/main" val="2040289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D6748-D243-8E87-43FA-D44028015B37}"/>
              </a:ext>
            </a:extLst>
          </p:cNvPr>
          <p:cNvSpPr>
            <a:spLocks noGrp="1"/>
          </p:cNvSpPr>
          <p:nvPr>
            <p:ph type="title"/>
          </p:nvPr>
        </p:nvSpPr>
        <p:spPr/>
        <p:txBody>
          <a:bodyPr/>
          <a:lstStyle/>
          <a:p>
            <a:r>
              <a:rPr lang="en-US"/>
              <a:t>Click to edit Master title style</a:t>
            </a:r>
            <a:endParaRPr lang="ro-RO"/>
          </a:p>
        </p:txBody>
      </p:sp>
      <p:sp>
        <p:nvSpPr>
          <p:cNvPr id="3" name="Content Placeholder 2">
            <a:extLst>
              <a:ext uri="{FF2B5EF4-FFF2-40B4-BE49-F238E27FC236}">
                <a16:creationId xmlns:a16="http://schemas.microsoft.com/office/drawing/2014/main" id="{D6340A7E-D03F-B9CD-3A5D-7FB5E7C698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Content Placeholder 3">
            <a:extLst>
              <a:ext uri="{FF2B5EF4-FFF2-40B4-BE49-F238E27FC236}">
                <a16:creationId xmlns:a16="http://schemas.microsoft.com/office/drawing/2014/main" id="{B9733CE6-8591-03F5-8098-02C47AC6B7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5" name="Date Placeholder 4">
            <a:extLst>
              <a:ext uri="{FF2B5EF4-FFF2-40B4-BE49-F238E27FC236}">
                <a16:creationId xmlns:a16="http://schemas.microsoft.com/office/drawing/2014/main" id="{01BABDDA-8F83-2BA6-891A-9228C31F9486}"/>
              </a:ext>
            </a:extLst>
          </p:cNvPr>
          <p:cNvSpPr>
            <a:spLocks noGrp="1"/>
          </p:cNvSpPr>
          <p:nvPr>
            <p:ph type="dt" sz="half" idx="10"/>
          </p:nvPr>
        </p:nvSpPr>
        <p:spPr/>
        <p:txBody>
          <a:bodyPr/>
          <a:lstStyle/>
          <a:p>
            <a:fld id="{B4F88105-B876-40B1-B4B9-E60C6B883FEB}" type="datetimeFigureOut">
              <a:rPr lang="ro-RO" smtClean="0"/>
              <a:t>17.01.2026</a:t>
            </a:fld>
            <a:endParaRPr lang="ro-RO"/>
          </a:p>
        </p:txBody>
      </p:sp>
      <p:sp>
        <p:nvSpPr>
          <p:cNvPr id="6" name="Footer Placeholder 5">
            <a:extLst>
              <a:ext uri="{FF2B5EF4-FFF2-40B4-BE49-F238E27FC236}">
                <a16:creationId xmlns:a16="http://schemas.microsoft.com/office/drawing/2014/main" id="{4C1AD6F8-23A5-58AA-3D43-706C2F4C9029}"/>
              </a:ext>
            </a:extLst>
          </p:cNvPr>
          <p:cNvSpPr>
            <a:spLocks noGrp="1"/>
          </p:cNvSpPr>
          <p:nvPr>
            <p:ph type="ftr" sz="quarter" idx="11"/>
          </p:nvPr>
        </p:nvSpPr>
        <p:spPr/>
        <p:txBody>
          <a:bodyPr/>
          <a:lstStyle/>
          <a:p>
            <a:endParaRPr lang="ro-RO"/>
          </a:p>
        </p:txBody>
      </p:sp>
      <p:sp>
        <p:nvSpPr>
          <p:cNvPr id="7" name="Slide Number Placeholder 6">
            <a:extLst>
              <a:ext uri="{FF2B5EF4-FFF2-40B4-BE49-F238E27FC236}">
                <a16:creationId xmlns:a16="http://schemas.microsoft.com/office/drawing/2014/main" id="{AE5AF14F-139B-0299-21D6-33D001812055}"/>
              </a:ext>
            </a:extLst>
          </p:cNvPr>
          <p:cNvSpPr>
            <a:spLocks noGrp="1"/>
          </p:cNvSpPr>
          <p:nvPr>
            <p:ph type="sldNum" sz="quarter" idx="12"/>
          </p:nvPr>
        </p:nvSpPr>
        <p:spPr/>
        <p:txBody>
          <a:bodyPr/>
          <a:lstStyle/>
          <a:p>
            <a:fld id="{C990700B-A905-4B3C-AA8C-A45B8A3A6667}" type="slidenum">
              <a:rPr lang="ro-RO" smtClean="0"/>
              <a:t>‹#›</a:t>
            </a:fld>
            <a:endParaRPr lang="ro-RO"/>
          </a:p>
        </p:txBody>
      </p:sp>
    </p:spTree>
    <p:extLst>
      <p:ext uri="{BB962C8B-B14F-4D97-AF65-F5344CB8AC3E}">
        <p14:creationId xmlns:p14="http://schemas.microsoft.com/office/powerpoint/2010/main" val="2519261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AA00-E4B2-24DD-D423-49E04E284250}"/>
              </a:ext>
            </a:extLst>
          </p:cNvPr>
          <p:cNvSpPr>
            <a:spLocks noGrp="1"/>
          </p:cNvSpPr>
          <p:nvPr>
            <p:ph type="title"/>
          </p:nvPr>
        </p:nvSpPr>
        <p:spPr>
          <a:xfrm>
            <a:off x="839788" y="365125"/>
            <a:ext cx="10515600" cy="1325563"/>
          </a:xfrm>
        </p:spPr>
        <p:txBody>
          <a:bodyPr/>
          <a:lstStyle/>
          <a:p>
            <a:r>
              <a:rPr lang="en-US"/>
              <a:t>Click to edit Master title style</a:t>
            </a:r>
            <a:endParaRPr lang="ro-RO"/>
          </a:p>
        </p:txBody>
      </p:sp>
      <p:sp>
        <p:nvSpPr>
          <p:cNvPr id="3" name="Text Placeholder 2">
            <a:extLst>
              <a:ext uri="{FF2B5EF4-FFF2-40B4-BE49-F238E27FC236}">
                <a16:creationId xmlns:a16="http://schemas.microsoft.com/office/drawing/2014/main" id="{3074DFD3-E460-518C-05A8-05E06DE4E6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05EDF0-56C4-4775-8D3F-CDC444F87D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5" name="Text Placeholder 4">
            <a:extLst>
              <a:ext uri="{FF2B5EF4-FFF2-40B4-BE49-F238E27FC236}">
                <a16:creationId xmlns:a16="http://schemas.microsoft.com/office/drawing/2014/main" id="{A9C16BF8-0953-B08E-B78B-58FA4CBDF4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186F9D-12D9-FB84-9D44-66899857AD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7" name="Date Placeholder 6">
            <a:extLst>
              <a:ext uri="{FF2B5EF4-FFF2-40B4-BE49-F238E27FC236}">
                <a16:creationId xmlns:a16="http://schemas.microsoft.com/office/drawing/2014/main" id="{07C9AAA6-F4C9-FB03-B463-03CFAB34341B}"/>
              </a:ext>
            </a:extLst>
          </p:cNvPr>
          <p:cNvSpPr>
            <a:spLocks noGrp="1"/>
          </p:cNvSpPr>
          <p:nvPr>
            <p:ph type="dt" sz="half" idx="10"/>
          </p:nvPr>
        </p:nvSpPr>
        <p:spPr/>
        <p:txBody>
          <a:bodyPr/>
          <a:lstStyle/>
          <a:p>
            <a:fld id="{B4F88105-B876-40B1-B4B9-E60C6B883FEB}" type="datetimeFigureOut">
              <a:rPr lang="ro-RO" smtClean="0"/>
              <a:t>17.01.2026</a:t>
            </a:fld>
            <a:endParaRPr lang="ro-RO"/>
          </a:p>
        </p:txBody>
      </p:sp>
      <p:sp>
        <p:nvSpPr>
          <p:cNvPr id="8" name="Footer Placeholder 7">
            <a:extLst>
              <a:ext uri="{FF2B5EF4-FFF2-40B4-BE49-F238E27FC236}">
                <a16:creationId xmlns:a16="http://schemas.microsoft.com/office/drawing/2014/main" id="{75137688-8797-FF44-759E-DF0F99D50E71}"/>
              </a:ext>
            </a:extLst>
          </p:cNvPr>
          <p:cNvSpPr>
            <a:spLocks noGrp="1"/>
          </p:cNvSpPr>
          <p:nvPr>
            <p:ph type="ftr" sz="quarter" idx="11"/>
          </p:nvPr>
        </p:nvSpPr>
        <p:spPr/>
        <p:txBody>
          <a:bodyPr/>
          <a:lstStyle/>
          <a:p>
            <a:endParaRPr lang="ro-RO"/>
          </a:p>
        </p:txBody>
      </p:sp>
      <p:sp>
        <p:nvSpPr>
          <p:cNvPr id="9" name="Slide Number Placeholder 8">
            <a:extLst>
              <a:ext uri="{FF2B5EF4-FFF2-40B4-BE49-F238E27FC236}">
                <a16:creationId xmlns:a16="http://schemas.microsoft.com/office/drawing/2014/main" id="{1782156C-9FD4-528C-FD29-FD3442F24012}"/>
              </a:ext>
            </a:extLst>
          </p:cNvPr>
          <p:cNvSpPr>
            <a:spLocks noGrp="1"/>
          </p:cNvSpPr>
          <p:nvPr>
            <p:ph type="sldNum" sz="quarter" idx="12"/>
          </p:nvPr>
        </p:nvSpPr>
        <p:spPr/>
        <p:txBody>
          <a:bodyPr/>
          <a:lstStyle/>
          <a:p>
            <a:fld id="{C990700B-A905-4B3C-AA8C-A45B8A3A6667}" type="slidenum">
              <a:rPr lang="ro-RO" smtClean="0"/>
              <a:t>‹#›</a:t>
            </a:fld>
            <a:endParaRPr lang="ro-RO"/>
          </a:p>
        </p:txBody>
      </p:sp>
    </p:spTree>
    <p:extLst>
      <p:ext uri="{BB962C8B-B14F-4D97-AF65-F5344CB8AC3E}">
        <p14:creationId xmlns:p14="http://schemas.microsoft.com/office/powerpoint/2010/main" val="2288132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1CA2C-9D72-4590-C923-129F95A47A59}"/>
              </a:ext>
            </a:extLst>
          </p:cNvPr>
          <p:cNvSpPr>
            <a:spLocks noGrp="1"/>
          </p:cNvSpPr>
          <p:nvPr>
            <p:ph type="title"/>
          </p:nvPr>
        </p:nvSpPr>
        <p:spPr/>
        <p:txBody>
          <a:bodyPr/>
          <a:lstStyle/>
          <a:p>
            <a:r>
              <a:rPr lang="en-US"/>
              <a:t>Click to edit Master title style</a:t>
            </a:r>
            <a:endParaRPr lang="ro-RO"/>
          </a:p>
        </p:txBody>
      </p:sp>
      <p:sp>
        <p:nvSpPr>
          <p:cNvPr id="3" name="Date Placeholder 2">
            <a:extLst>
              <a:ext uri="{FF2B5EF4-FFF2-40B4-BE49-F238E27FC236}">
                <a16:creationId xmlns:a16="http://schemas.microsoft.com/office/drawing/2014/main" id="{E95A87D3-FE0B-411F-8CB3-D4CC2B072EDA}"/>
              </a:ext>
            </a:extLst>
          </p:cNvPr>
          <p:cNvSpPr>
            <a:spLocks noGrp="1"/>
          </p:cNvSpPr>
          <p:nvPr>
            <p:ph type="dt" sz="half" idx="10"/>
          </p:nvPr>
        </p:nvSpPr>
        <p:spPr/>
        <p:txBody>
          <a:bodyPr/>
          <a:lstStyle/>
          <a:p>
            <a:fld id="{B4F88105-B876-40B1-B4B9-E60C6B883FEB}" type="datetimeFigureOut">
              <a:rPr lang="ro-RO" smtClean="0"/>
              <a:t>17.01.2026</a:t>
            </a:fld>
            <a:endParaRPr lang="ro-RO"/>
          </a:p>
        </p:txBody>
      </p:sp>
      <p:sp>
        <p:nvSpPr>
          <p:cNvPr id="4" name="Footer Placeholder 3">
            <a:extLst>
              <a:ext uri="{FF2B5EF4-FFF2-40B4-BE49-F238E27FC236}">
                <a16:creationId xmlns:a16="http://schemas.microsoft.com/office/drawing/2014/main" id="{4F1F1B5C-F33F-3314-7A1C-6203A94CF189}"/>
              </a:ext>
            </a:extLst>
          </p:cNvPr>
          <p:cNvSpPr>
            <a:spLocks noGrp="1"/>
          </p:cNvSpPr>
          <p:nvPr>
            <p:ph type="ftr" sz="quarter" idx="11"/>
          </p:nvPr>
        </p:nvSpPr>
        <p:spPr/>
        <p:txBody>
          <a:bodyPr/>
          <a:lstStyle/>
          <a:p>
            <a:endParaRPr lang="ro-RO"/>
          </a:p>
        </p:txBody>
      </p:sp>
      <p:sp>
        <p:nvSpPr>
          <p:cNvPr id="5" name="Slide Number Placeholder 4">
            <a:extLst>
              <a:ext uri="{FF2B5EF4-FFF2-40B4-BE49-F238E27FC236}">
                <a16:creationId xmlns:a16="http://schemas.microsoft.com/office/drawing/2014/main" id="{861419D4-A2B6-57D0-BE6F-9C2371EB3206}"/>
              </a:ext>
            </a:extLst>
          </p:cNvPr>
          <p:cNvSpPr>
            <a:spLocks noGrp="1"/>
          </p:cNvSpPr>
          <p:nvPr>
            <p:ph type="sldNum" sz="quarter" idx="12"/>
          </p:nvPr>
        </p:nvSpPr>
        <p:spPr/>
        <p:txBody>
          <a:bodyPr/>
          <a:lstStyle/>
          <a:p>
            <a:fld id="{C990700B-A905-4B3C-AA8C-A45B8A3A6667}" type="slidenum">
              <a:rPr lang="ro-RO" smtClean="0"/>
              <a:t>‹#›</a:t>
            </a:fld>
            <a:endParaRPr lang="ro-RO"/>
          </a:p>
        </p:txBody>
      </p:sp>
    </p:spTree>
    <p:extLst>
      <p:ext uri="{BB962C8B-B14F-4D97-AF65-F5344CB8AC3E}">
        <p14:creationId xmlns:p14="http://schemas.microsoft.com/office/powerpoint/2010/main" val="4156428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CDCF9F-F908-18AD-9D21-0DE219040D95}"/>
              </a:ext>
            </a:extLst>
          </p:cNvPr>
          <p:cNvSpPr>
            <a:spLocks noGrp="1"/>
          </p:cNvSpPr>
          <p:nvPr>
            <p:ph type="dt" sz="half" idx="10"/>
          </p:nvPr>
        </p:nvSpPr>
        <p:spPr/>
        <p:txBody>
          <a:bodyPr/>
          <a:lstStyle/>
          <a:p>
            <a:fld id="{B4F88105-B876-40B1-B4B9-E60C6B883FEB}" type="datetimeFigureOut">
              <a:rPr lang="ro-RO" smtClean="0"/>
              <a:t>17.01.2026</a:t>
            </a:fld>
            <a:endParaRPr lang="ro-RO"/>
          </a:p>
        </p:txBody>
      </p:sp>
      <p:sp>
        <p:nvSpPr>
          <p:cNvPr id="3" name="Footer Placeholder 2">
            <a:extLst>
              <a:ext uri="{FF2B5EF4-FFF2-40B4-BE49-F238E27FC236}">
                <a16:creationId xmlns:a16="http://schemas.microsoft.com/office/drawing/2014/main" id="{83D9A0FF-852D-E357-7AB6-A408054C662F}"/>
              </a:ext>
            </a:extLst>
          </p:cNvPr>
          <p:cNvSpPr>
            <a:spLocks noGrp="1"/>
          </p:cNvSpPr>
          <p:nvPr>
            <p:ph type="ftr" sz="quarter" idx="11"/>
          </p:nvPr>
        </p:nvSpPr>
        <p:spPr/>
        <p:txBody>
          <a:bodyPr/>
          <a:lstStyle/>
          <a:p>
            <a:endParaRPr lang="ro-RO"/>
          </a:p>
        </p:txBody>
      </p:sp>
      <p:sp>
        <p:nvSpPr>
          <p:cNvPr id="4" name="Slide Number Placeholder 3">
            <a:extLst>
              <a:ext uri="{FF2B5EF4-FFF2-40B4-BE49-F238E27FC236}">
                <a16:creationId xmlns:a16="http://schemas.microsoft.com/office/drawing/2014/main" id="{501D9A9B-A711-6D51-CDC6-84D0FE82B76C}"/>
              </a:ext>
            </a:extLst>
          </p:cNvPr>
          <p:cNvSpPr>
            <a:spLocks noGrp="1"/>
          </p:cNvSpPr>
          <p:nvPr>
            <p:ph type="sldNum" sz="quarter" idx="12"/>
          </p:nvPr>
        </p:nvSpPr>
        <p:spPr/>
        <p:txBody>
          <a:bodyPr/>
          <a:lstStyle/>
          <a:p>
            <a:fld id="{C990700B-A905-4B3C-AA8C-A45B8A3A6667}" type="slidenum">
              <a:rPr lang="ro-RO" smtClean="0"/>
              <a:t>‹#›</a:t>
            </a:fld>
            <a:endParaRPr lang="ro-RO"/>
          </a:p>
        </p:txBody>
      </p:sp>
    </p:spTree>
    <p:extLst>
      <p:ext uri="{BB962C8B-B14F-4D97-AF65-F5344CB8AC3E}">
        <p14:creationId xmlns:p14="http://schemas.microsoft.com/office/powerpoint/2010/main" val="2806141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7355-1673-AA9E-91B9-1A4F739D4A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o-RO"/>
          </a:p>
        </p:txBody>
      </p:sp>
      <p:sp>
        <p:nvSpPr>
          <p:cNvPr id="3" name="Content Placeholder 2">
            <a:extLst>
              <a:ext uri="{FF2B5EF4-FFF2-40B4-BE49-F238E27FC236}">
                <a16:creationId xmlns:a16="http://schemas.microsoft.com/office/drawing/2014/main" id="{9F9F49AC-9CF2-1D05-FF3B-DE7EEF32D0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Text Placeholder 3">
            <a:extLst>
              <a:ext uri="{FF2B5EF4-FFF2-40B4-BE49-F238E27FC236}">
                <a16:creationId xmlns:a16="http://schemas.microsoft.com/office/drawing/2014/main" id="{9D810185-96FE-F4DF-5CE7-9BC09F66DD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10F376-B11D-F292-4FB1-4BA77A4BE9E0}"/>
              </a:ext>
            </a:extLst>
          </p:cNvPr>
          <p:cNvSpPr>
            <a:spLocks noGrp="1"/>
          </p:cNvSpPr>
          <p:nvPr>
            <p:ph type="dt" sz="half" idx="10"/>
          </p:nvPr>
        </p:nvSpPr>
        <p:spPr/>
        <p:txBody>
          <a:bodyPr/>
          <a:lstStyle/>
          <a:p>
            <a:fld id="{B4F88105-B876-40B1-B4B9-E60C6B883FEB}" type="datetimeFigureOut">
              <a:rPr lang="ro-RO" smtClean="0"/>
              <a:t>17.01.2026</a:t>
            </a:fld>
            <a:endParaRPr lang="ro-RO"/>
          </a:p>
        </p:txBody>
      </p:sp>
      <p:sp>
        <p:nvSpPr>
          <p:cNvPr id="6" name="Footer Placeholder 5">
            <a:extLst>
              <a:ext uri="{FF2B5EF4-FFF2-40B4-BE49-F238E27FC236}">
                <a16:creationId xmlns:a16="http://schemas.microsoft.com/office/drawing/2014/main" id="{3B0A186B-8735-2FA8-F561-0384BA610385}"/>
              </a:ext>
            </a:extLst>
          </p:cNvPr>
          <p:cNvSpPr>
            <a:spLocks noGrp="1"/>
          </p:cNvSpPr>
          <p:nvPr>
            <p:ph type="ftr" sz="quarter" idx="11"/>
          </p:nvPr>
        </p:nvSpPr>
        <p:spPr/>
        <p:txBody>
          <a:bodyPr/>
          <a:lstStyle/>
          <a:p>
            <a:endParaRPr lang="ro-RO"/>
          </a:p>
        </p:txBody>
      </p:sp>
      <p:sp>
        <p:nvSpPr>
          <p:cNvPr id="7" name="Slide Number Placeholder 6">
            <a:extLst>
              <a:ext uri="{FF2B5EF4-FFF2-40B4-BE49-F238E27FC236}">
                <a16:creationId xmlns:a16="http://schemas.microsoft.com/office/drawing/2014/main" id="{096681E7-D62D-5CF2-04B5-733E7B66A2DA}"/>
              </a:ext>
            </a:extLst>
          </p:cNvPr>
          <p:cNvSpPr>
            <a:spLocks noGrp="1"/>
          </p:cNvSpPr>
          <p:nvPr>
            <p:ph type="sldNum" sz="quarter" idx="12"/>
          </p:nvPr>
        </p:nvSpPr>
        <p:spPr/>
        <p:txBody>
          <a:bodyPr/>
          <a:lstStyle/>
          <a:p>
            <a:fld id="{C990700B-A905-4B3C-AA8C-A45B8A3A6667}" type="slidenum">
              <a:rPr lang="ro-RO" smtClean="0"/>
              <a:t>‹#›</a:t>
            </a:fld>
            <a:endParaRPr lang="ro-RO"/>
          </a:p>
        </p:txBody>
      </p:sp>
    </p:spTree>
    <p:extLst>
      <p:ext uri="{BB962C8B-B14F-4D97-AF65-F5344CB8AC3E}">
        <p14:creationId xmlns:p14="http://schemas.microsoft.com/office/powerpoint/2010/main" val="1480562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2B3A2-79D6-6343-DDD1-B7DABF17A9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o-RO"/>
          </a:p>
        </p:txBody>
      </p:sp>
      <p:sp>
        <p:nvSpPr>
          <p:cNvPr id="3" name="Picture Placeholder 2">
            <a:extLst>
              <a:ext uri="{FF2B5EF4-FFF2-40B4-BE49-F238E27FC236}">
                <a16:creationId xmlns:a16="http://schemas.microsoft.com/office/drawing/2014/main" id="{BA5F3B7A-F957-44A2-FF94-9BF8CB7FE7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o-RO"/>
          </a:p>
        </p:txBody>
      </p:sp>
      <p:sp>
        <p:nvSpPr>
          <p:cNvPr id="4" name="Text Placeholder 3">
            <a:extLst>
              <a:ext uri="{FF2B5EF4-FFF2-40B4-BE49-F238E27FC236}">
                <a16:creationId xmlns:a16="http://schemas.microsoft.com/office/drawing/2014/main" id="{61B9EEA4-CF79-8C1F-79B4-C4BE24EA29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370363-775A-542A-EA5E-788E1B3FC1B6}"/>
              </a:ext>
            </a:extLst>
          </p:cNvPr>
          <p:cNvSpPr>
            <a:spLocks noGrp="1"/>
          </p:cNvSpPr>
          <p:nvPr>
            <p:ph type="dt" sz="half" idx="10"/>
          </p:nvPr>
        </p:nvSpPr>
        <p:spPr/>
        <p:txBody>
          <a:bodyPr/>
          <a:lstStyle/>
          <a:p>
            <a:fld id="{B4F88105-B876-40B1-B4B9-E60C6B883FEB}" type="datetimeFigureOut">
              <a:rPr lang="ro-RO" smtClean="0"/>
              <a:t>17.01.2026</a:t>
            </a:fld>
            <a:endParaRPr lang="ro-RO"/>
          </a:p>
        </p:txBody>
      </p:sp>
      <p:sp>
        <p:nvSpPr>
          <p:cNvPr id="6" name="Footer Placeholder 5">
            <a:extLst>
              <a:ext uri="{FF2B5EF4-FFF2-40B4-BE49-F238E27FC236}">
                <a16:creationId xmlns:a16="http://schemas.microsoft.com/office/drawing/2014/main" id="{B390631C-60CF-1A67-6382-EC12539103B4}"/>
              </a:ext>
            </a:extLst>
          </p:cNvPr>
          <p:cNvSpPr>
            <a:spLocks noGrp="1"/>
          </p:cNvSpPr>
          <p:nvPr>
            <p:ph type="ftr" sz="quarter" idx="11"/>
          </p:nvPr>
        </p:nvSpPr>
        <p:spPr/>
        <p:txBody>
          <a:bodyPr/>
          <a:lstStyle/>
          <a:p>
            <a:endParaRPr lang="ro-RO"/>
          </a:p>
        </p:txBody>
      </p:sp>
      <p:sp>
        <p:nvSpPr>
          <p:cNvPr id="7" name="Slide Number Placeholder 6">
            <a:extLst>
              <a:ext uri="{FF2B5EF4-FFF2-40B4-BE49-F238E27FC236}">
                <a16:creationId xmlns:a16="http://schemas.microsoft.com/office/drawing/2014/main" id="{9C981ED9-391F-8529-AA0E-3F70F035414C}"/>
              </a:ext>
            </a:extLst>
          </p:cNvPr>
          <p:cNvSpPr>
            <a:spLocks noGrp="1"/>
          </p:cNvSpPr>
          <p:nvPr>
            <p:ph type="sldNum" sz="quarter" idx="12"/>
          </p:nvPr>
        </p:nvSpPr>
        <p:spPr/>
        <p:txBody>
          <a:bodyPr/>
          <a:lstStyle/>
          <a:p>
            <a:fld id="{C990700B-A905-4B3C-AA8C-A45B8A3A6667}" type="slidenum">
              <a:rPr lang="ro-RO" smtClean="0"/>
              <a:t>‹#›</a:t>
            </a:fld>
            <a:endParaRPr lang="ro-RO"/>
          </a:p>
        </p:txBody>
      </p:sp>
    </p:spTree>
    <p:extLst>
      <p:ext uri="{BB962C8B-B14F-4D97-AF65-F5344CB8AC3E}">
        <p14:creationId xmlns:p14="http://schemas.microsoft.com/office/powerpoint/2010/main" val="4151829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47C9D-71E7-DF20-16C3-7ACF4B0536D6}"/>
              </a:ext>
            </a:extLst>
          </p:cNvPr>
          <p:cNvSpPr>
            <a:spLocks noGrp="1"/>
          </p:cNvSpPr>
          <p:nvPr>
            <p:ph type="title"/>
          </p:nvPr>
        </p:nvSpPr>
        <p:spPr/>
        <p:txBody>
          <a:bodyPr/>
          <a:lstStyle/>
          <a:p>
            <a:r>
              <a:rPr lang="en-US"/>
              <a:t>Click to edit Master title style</a:t>
            </a:r>
            <a:endParaRPr lang="ro-RO"/>
          </a:p>
        </p:txBody>
      </p:sp>
      <p:sp>
        <p:nvSpPr>
          <p:cNvPr id="3" name="Vertical Text Placeholder 2">
            <a:extLst>
              <a:ext uri="{FF2B5EF4-FFF2-40B4-BE49-F238E27FC236}">
                <a16:creationId xmlns:a16="http://schemas.microsoft.com/office/drawing/2014/main" id="{5CF1699B-BDCF-6F51-F9CE-284792AB84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CF03C73D-9854-A207-126D-7BD200780054}"/>
              </a:ext>
            </a:extLst>
          </p:cNvPr>
          <p:cNvSpPr>
            <a:spLocks noGrp="1"/>
          </p:cNvSpPr>
          <p:nvPr>
            <p:ph type="dt" sz="half" idx="10"/>
          </p:nvPr>
        </p:nvSpPr>
        <p:spPr/>
        <p:txBody>
          <a:bodyPr/>
          <a:lstStyle/>
          <a:p>
            <a:fld id="{B4F88105-B876-40B1-B4B9-E60C6B883FEB}" type="datetimeFigureOut">
              <a:rPr lang="ro-RO" smtClean="0"/>
              <a:t>17.01.2026</a:t>
            </a:fld>
            <a:endParaRPr lang="ro-RO"/>
          </a:p>
        </p:txBody>
      </p:sp>
      <p:sp>
        <p:nvSpPr>
          <p:cNvPr id="5" name="Footer Placeholder 4">
            <a:extLst>
              <a:ext uri="{FF2B5EF4-FFF2-40B4-BE49-F238E27FC236}">
                <a16:creationId xmlns:a16="http://schemas.microsoft.com/office/drawing/2014/main" id="{95F08677-31E7-5F0C-78A5-B521912F0637}"/>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771C61C7-1AE2-C817-DEDE-E6331DD670C1}"/>
              </a:ext>
            </a:extLst>
          </p:cNvPr>
          <p:cNvSpPr>
            <a:spLocks noGrp="1"/>
          </p:cNvSpPr>
          <p:nvPr>
            <p:ph type="sldNum" sz="quarter" idx="12"/>
          </p:nvPr>
        </p:nvSpPr>
        <p:spPr/>
        <p:txBody>
          <a:bodyPr/>
          <a:lstStyle/>
          <a:p>
            <a:fld id="{C990700B-A905-4B3C-AA8C-A45B8A3A6667}" type="slidenum">
              <a:rPr lang="ro-RO" smtClean="0"/>
              <a:t>‹#›</a:t>
            </a:fld>
            <a:endParaRPr lang="ro-RO"/>
          </a:p>
        </p:txBody>
      </p:sp>
    </p:spTree>
    <p:extLst>
      <p:ext uri="{BB962C8B-B14F-4D97-AF65-F5344CB8AC3E}">
        <p14:creationId xmlns:p14="http://schemas.microsoft.com/office/powerpoint/2010/main" val="1947147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EA8879-9D47-0FE5-8528-EF04C13699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o-RO"/>
          </a:p>
        </p:txBody>
      </p:sp>
      <p:sp>
        <p:nvSpPr>
          <p:cNvPr id="3" name="Vertical Text Placeholder 2">
            <a:extLst>
              <a:ext uri="{FF2B5EF4-FFF2-40B4-BE49-F238E27FC236}">
                <a16:creationId xmlns:a16="http://schemas.microsoft.com/office/drawing/2014/main" id="{9B1F9A30-A330-0AB9-CF22-777BEFF8C3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9F0A2E04-1A55-BF46-C357-4355E98FA96E}"/>
              </a:ext>
            </a:extLst>
          </p:cNvPr>
          <p:cNvSpPr>
            <a:spLocks noGrp="1"/>
          </p:cNvSpPr>
          <p:nvPr>
            <p:ph type="dt" sz="half" idx="10"/>
          </p:nvPr>
        </p:nvSpPr>
        <p:spPr/>
        <p:txBody>
          <a:bodyPr/>
          <a:lstStyle/>
          <a:p>
            <a:fld id="{B4F88105-B876-40B1-B4B9-E60C6B883FEB}" type="datetimeFigureOut">
              <a:rPr lang="ro-RO" smtClean="0"/>
              <a:t>17.01.2026</a:t>
            </a:fld>
            <a:endParaRPr lang="ro-RO"/>
          </a:p>
        </p:txBody>
      </p:sp>
      <p:sp>
        <p:nvSpPr>
          <p:cNvPr id="5" name="Footer Placeholder 4">
            <a:extLst>
              <a:ext uri="{FF2B5EF4-FFF2-40B4-BE49-F238E27FC236}">
                <a16:creationId xmlns:a16="http://schemas.microsoft.com/office/drawing/2014/main" id="{7DD96CBC-26FC-9FCA-6A22-5F75C2C4D669}"/>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ED6ADA04-D296-D183-2F72-B71F9F01877B}"/>
              </a:ext>
            </a:extLst>
          </p:cNvPr>
          <p:cNvSpPr>
            <a:spLocks noGrp="1"/>
          </p:cNvSpPr>
          <p:nvPr>
            <p:ph type="sldNum" sz="quarter" idx="12"/>
          </p:nvPr>
        </p:nvSpPr>
        <p:spPr/>
        <p:txBody>
          <a:bodyPr/>
          <a:lstStyle/>
          <a:p>
            <a:fld id="{C990700B-A905-4B3C-AA8C-A45B8A3A6667}" type="slidenum">
              <a:rPr lang="ro-RO" smtClean="0"/>
              <a:t>‹#›</a:t>
            </a:fld>
            <a:endParaRPr lang="ro-RO"/>
          </a:p>
        </p:txBody>
      </p:sp>
    </p:spTree>
    <p:extLst>
      <p:ext uri="{BB962C8B-B14F-4D97-AF65-F5344CB8AC3E}">
        <p14:creationId xmlns:p14="http://schemas.microsoft.com/office/powerpoint/2010/main" val="2961748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AEAA8A-0A43-9AFC-92C3-FD3CB934AA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o-RO"/>
          </a:p>
        </p:txBody>
      </p:sp>
      <p:sp>
        <p:nvSpPr>
          <p:cNvPr id="3" name="Text Placeholder 2">
            <a:extLst>
              <a:ext uri="{FF2B5EF4-FFF2-40B4-BE49-F238E27FC236}">
                <a16:creationId xmlns:a16="http://schemas.microsoft.com/office/drawing/2014/main" id="{31F9B032-CC2F-3CF5-D973-7306C4C696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C442EDEC-097A-3D4B-1604-1A6A53542B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F88105-B876-40B1-B4B9-E60C6B883FEB}" type="datetimeFigureOut">
              <a:rPr lang="ro-RO" smtClean="0"/>
              <a:t>17.01.2026</a:t>
            </a:fld>
            <a:endParaRPr lang="ro-RO"/>
          </a:p>
        </p:txBody>
      </p:sp>
      <p:sp>
        <p:nvSpPr>
          <p:cNvPr id="5" name="Footer Placeholder 4">
            <a:extLst>
              <a:ext uri="{FF2B5EF4-FFF2-40B4-BE49-F238E27FC236}">
                <a16:creationId xmlns:a16="http://schemas.microsoft.com/office/drawing/2014/main" id="{14BA5A33-4051-EF28-8F13-405D3E41A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o-RO"/>
          </a:p>
        </p:txBody>
      </p:sp>
      <p:sp>
        <p:nvSpPr>
          <p:cNvPr id="6" name="Slide Number Placeholder 5">
            <a:extLst>
              <a:ext uri="{FF2B5EF4-FFF2-40B4-BE49-F238E27FC236}">
                <a16:creationId xmlns:a16="http://schemas.microsoft.com/office/drawing/2014/main" id="{975A3343-4AAE-C669-3064-1250F0507D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90700B-A905-4B3C-AA8C-A45B8A3A6667}" type="slidenum">
              <a:rPr lang="ro-RO" smtClean="0"/>
              <a:t>‹#›</a:t>
            </a:fld>
            <a:endParaRPr lang="ro-RO"/>
          </a:p>
        </p:txBody>
      </p:sp>
    </p:spTree>
    <p:extLst>
      <p:ext uri="{BB962C8B-B14F-4D97-AF65-F5344CB8AC3E}">
        <p14:creationId xmlns:p14="http://schemas.microsoft.com/office/powerpoint/2010/main" val="1982590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craiova-apart-predict.streamlit.app/"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ec.europa.eu/eurostat/databrowser/view/tec00001__custom_19266702/default/table" TargetMode="External"/><Relationship Id="rId2" Type="http://schemas.openxmlformats.org/officeDocument/2006/relationships/hyperlink" Target="https://www.imobiliare.ro/indicele-imobiliare-ro/craiova" TargetMode="External"/><Relationship Id="rId1" Type="http://schemas.openxmlformats.org/officeDocument/2006/relationships/slideLayout" Target="../slideLayouts/slideLayout7.xml"/><Relationship Id="rId6" Type="http://schemas.openxmlformats.org/officeDocument/2006/relationships/hyperlink" Target="https://www.primariacraiova.ro/pozearticole/userfiles/files/RAPORT%202015%20final.pdf" TargetMode="External"/><Relationship Id="rId5" Type="http://schemas.openxmlformats.org/officeDocument/2006/relationships/hyperlink" Target="https://cnp.ro/economia-regionala-a-romaniei/" TargetMode="External"/><Relationship Id="rId4" Type="http://schemas.openxmlformats.org/officeDocument/2006/relationships/hyperlink" Target="https://insse.ro/cms/ro/content/ipc%E2%80%93serie-de-date-anuala"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5000" t="-1000" r="3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87C84-9A04-1379-CF03-5A828BBDBA5D}"/>
              </a:ext>
            </a:extLst>
          </p:cNvPr>
          <p:cNvSpPr>
            <a:spLocks noGrp="1"/>
          </p:cNvSpPr>
          <p:nvPr>
            <p:ph type="ctrTitle"/>
          </p:nvPr>
        </p:nvSpPr>
        <p:spPr>
          <a:xfrm>
            <a:off x="1801092" y="1600200"/>
            <a:ext cx="7462982" cy="1655762"/>
          </a:xfrm>
        </p:spPr>
        <p:txBody>
          <a:bodyPr>
            <a:normAutofit fontScale="90000"/>
          </a:bodyPr>
          <a:lstStyle/>
          <a:p>
            <a:r>
              <a:rPr lang="en-US" b="1" i="1" dirty="0">
                <a:solidFill>
                  <a:srgbClr val="CC0000"/>
                </a:solidFill>
                <a:latin typeface="Franklin Gothic Demi" panose="020B0703020102020204" pitchFamily="34" charset="0"/>
              </a:rPr>
              <a:t>Apartment Prices Craiova</a:t>
            </a:r>
            <a:endParaRPr lang="ro-RO" b="1" i="1" dirty="0">
              <a:solidFill>
                <a:srgbClr val="CC0000"/>
              </a:solidFill>
              <a:latin typeface="Franklin Gothic Demi" panose="020B0703020102020204" pitchFamily="34" charset="0"/>
            </a:endParaRPr>
          </a:p>
        </p:txBody>
      </p:sp>
      <p:sp>
        <p:nvSpPr>
          <p:cNvPr id="3" name="Subtitle 2">
            <a:extLst>
              <a:ext uri="{FF2B5EF4-FFF2-40B4-BE49-F238E27FC236}">
                <a16:creationId xmlns:a16="http://schemas.microsoft.com/office/drawing/2014/main" id="{692F1112-EC0D-A710-F8B2-BE8A88E2954B}"/>
              </a:ext>
            </a:extLst>
          </p:cNvPr>
          <p:cNvSpPr>
            <a:spLocks noGrp="1"/>
          </p:cNvSpPr>
          <p:nvPr>
            <p:ph type="subTitle" idx="1"/>
          </p:nvPr>
        </p:nvSpPr>
        <p:spPr>
          <a:xfrm>
            <a:off x="1524000" y="3255962"/>
            <a:ext cx="9144000" cy="1655762"/>
          </a:xfrm>
          <a:scene3d>
            <a:camera prst="perspectiveContrastingRightFacing"/>
            <a:lightRig rig="threePt" dir="t"/>
          </a:scene3d>
        </p:spPr>
        <p:txBody>
          <a:bodyPr>
            <a:normAutofit/>
          </a:bodyPr>
          <a:lstStyle/>
          <a:p>
            <a:r>
              <a:rPr lang="en-US" sz="3600" dirty="0">
                <a:solidFill>
                  <a:srgbClr val="CC0000"/>
                </a:solidFill>
                <a:latin typeface="Franklin Gothic Demi" panose="020B0703020102020204" pitchFamily="34" charset="0"/>
              </a:rPr>
              <a:t>1900-2025</a:t>
            </a:r>
            <a:endParaRPr lang="ro-RO" sz="3600" dirty="0">
              <a:solidFill>
                <a:srgbClr val="CC0000"/>
              </a:solidFill>
              <a:latin typeface="Franklin Gothic Demi" panose="020B0703020102020204" pitchFamily="34" charset="0"/>
            </a:endParaRPr>
          </a:p>
        </p:txBody>
      </p:sp>
      <p:sp>
        <p:nvSpPr>
          <p:cNvPr id="4" name="Title 1">
            <a:extLst>
              <a:ext uri="{FF2B5EF4-FFF2-40B4-BE49-F238E27FC236}">
                <a16:creationId xmlns:a16="http://schemas.microsoft.com/office/drawing/2014/main" id="{D6ACE6D5-093C-541E-563F-7A2EE2EF0127}"/>
              </a:ext>
            </a:extLst>
          </p:cNvPr>
          <p:cNvSpPr txBox="1">
            <a:spLocks/>
          </p:cNvSpPr>
          <p:nvPr/>
        </p:nvSpPr>
        <p:spPr>
          <a:xfrm>
            <a:off x="7540476" y="4160520"/>
            <a:ext cx="2947692" cy="56692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i="1" dirty="0">
                <a:solidFill>
                  <a:srgbClr val="CC0000"/>
                </a:solidFill>
                <a:latin typeface="Franklin Gothic Demi" panose="020B0703020102020204" pitchFamily="34" charset="0"/>
              </a:rPr>
              <a:t>General Info</a:t>
            </a:r>
            <a:endParaRPr lang="ro-RO" sz="4000" b="1" i="1" dirty="0">
              <a:solidFill>
                <a:srgbClr val="CC0000"/>
              </a:solidFill>
              <a:latin typeface="Franklin Gothic Demi" panose="020B0703020102020204" pitchFamily="34" charset="0"/>
            </a:endParaRPr>
          </a:p>
        </p:txBody>
      </p:sp>
    </p:spTree>
    <p:extLst>
      <p:ext uri="{BB962C8B-B14F-4D97-AF65-F5344CB8AC3E}">
        <p14:creationId xmlns:p14="http://schemas.microsoft.com/office/powerpoint/2010/main" val="691842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6F76B-7BE2-B872-E3AC-6776A4FD3F51}"/>
              </a:ext>
            </a:extLst>
          </p:cNvPr>
          <p:cNvSpPr txBox="1"/>
          <p:nvPr/>
        </p:nvSpPr>
        <p:spPr>
          <a:xfrm>
            <a:off x="1199536" y="1068934"/>
            <a:ext cx="7413522" cy="5601533"/>
          </a:xfrm>
          <a:prstGeom prst="rect">
            <a:avLst/>
          </a:prstGeom>
          <a:noFill/>
        </p:spPr>
        <p:txBody>
          <a:bodyPr wrap="square" rtlCol="0">
            <a:spAutoFit/>
          </a:bodyPr>
          <a:lstStyle/>
          <a:p>
            <a:r>
              <a:rPr lang="en-US" sz="4000" b="1" dirty="0"/>
              <a:t>CUPRINS</a:t>
            </a:r>
          </a:p>
          <a:p>
            <a:endParaRPr lang="en-US" dirty="0"/>
          </a:p>
          <a:p>
            <a:pPr marL="342900" indent="-342900">
              <a:buAutoNum type="arabicPeriod"/>
            </a:pPr>
            <a:r>
              <a:rPr lang="en-US" sz="2400" dirty="0" err="1"/>
              <a:t>Scurta</a:t>
            </a:r>
            <a:r>
              <a:rPr lang="en-US" sz="2400" dirty="0"/>
              <a:t> </a:t>
            </a:r>
            <a:r>
              <a:rPr lang="en-US" sz="2400" dirty="0" err="1"/>
              <a:t>descriere</a:t>
            </a:r>
            <a:endParaRPr lang="en-US" sz="2400" dirty="0"/>
          </a:p>
          <a:p>
            <a:pPr marL="342900" indent="-342900">
              <a:buAutoNum type="arabicPeriod"/>
            </a:pPr>
            <a:r>
              <a:rPr lang="en-US" sz="2400" dirty="0" err="1"/>
              <a:t>Detalii</a:t>
            </a:r>
            <a:r>
              <a:rPr lang="en-US" sz="2400" dirty="0"/>
              <a:t> </a:t>
            </a:r>
            <a:r>
              <a:rPr lang="en-US" sz="2400" dirty="0" err="1"/>
              <a:t>despre</a:t>
            </a:r>
            <a:r>
              <a:rPr lang="en-US" sz="2400" dirty="0"/>
              <a:t> environment</a:t>
            </a:r>
          </a:p>
          <a:p>
            <a:pPr marL="342900" indent="-342900">
              <a:buAutoNum type="arabicPeriod"/>
            </a:pPr>
            <a:r>
              <a:rPr lang="en-US" sz="2400" dirty="0"/>
              <a:t>Module </a:t>
            </a:r>
            <a:r>
              <a:rPr lang="en-US" sz="2400" dirty="0" err="1"/>
              <a:t>folosite</a:t>
            </a:r>
            <a:endParaRPr lang="en-US" sz="2400" dirty="0"/>
          </a:p>
          <a:p>
            <a:pPr marL="342900" indent="-342900">
              <a:buAutoNum type="arabicPeriod"/>
            </a:pPr>
            <a:r>
              <a:rPr lang="en-US" sz="2400" dirty="0" err="1"/>
              <a:t>Generarea</a:t>
            </a:r>
            <a:r>
              <a:rPr lang="en-US" sz="2400" dirty="0"/>
              <a:t> </a:t>
            </a:r>
            <a:r>
              <a:rPr lang="en-US" sz="2400" dirty="0" err="1"/>
              <a:t>datelor</a:t>
            </a:r>
            <a:r>
              <a:rPr lang="en-US" sz="2400" dirty="0"/>
              <a:t> - </a:t>
            </a:r>
            <a:r>
              <a:rPr lang="en-US" sz="2400" dirty="0" err="1"/>
              <a:t>Perioada</a:t>
            </a:r>
            <a:r>
              <a:rPr lang="en-US" sz="2400" dirty="0"/>
              <a:t> 2012-2025</a:t>
            </a:r>
          </a:p>
          <a:p>
            <a:pPr marL="342900" indent="-342900">
              <a:buAutoNum type="arabicPeriod"/>
            </a:pPr>
            <a:r>
              <a:rPr lang="en-US" sz="2400" dirty="0" err="1"/>
              <a:t>Generarea</a:t>
            </a:r>
            <a:r>
              <a:rPr lang="en-US" sz="2400" dirty="0"/>
              <a:t> </a:t>
            </a:r>
            <a:r>
              <a:rPr lang="en-US" sz="2400" dirty="0" err="1"/>
              <a:t>datelor</a:t>
            </a:r>
            <a:r>
              <a:rPr lang="en-US" sz="2400" dirty="0"/>
              <a:t> - </a:t>
            </a:r>
            <a:r>
              <a:rPr lang="en-US" sz="2400" dirty="0" err="1"/>
              <a:t>Perioada</a:t>
            </a:r>
            <a:r>
              <a:rPr lang="en-US" sz="2400" dirty="0"/>
              <a:t> 1900-2011</a:t>
            </a:r>
          </a:p>
          <a:p>
            <a:pPr marL="342900" indent="-342900">
              <a:buAutoNum type="arabicPeriod"/>
            </a:pPr>
            <a:r>
              <a:rPr lang="en-US" sz="2400" dirty="0" err="1"/>
              <a:t>Intervalul</a:t>
            </a:r>
            <a:r>
              <a:rPr lang="en-US" sz="2400" dirty="0"/>
              <a:t> 1900-2025</a:t>
            </a:r>
          </a:p>
          <a:p>
            <a:pPr marL="342900" indent="-342900">
              <a:buFontTx/>
              <a:buAutoNum type="arabicPeriod"/>
            </a:pPr>
            <a:r>
              <a:rPr lang="it-IT" sz="2400" dirty="0"/>
              <a:t>Modelarea si prognoza preturilor – abordare hibrida</a:t>
            </a:r>
          </a:p>
          <a:p>
            <a:pPr marL="342900" indent="-342900">
              <a:buFontTx/>
              <a:buAutoNum type="arabicPeriod"/>
            </a:pPr>
            <a:r>
              <a:rPr lang="it-IT" sz="2400" dirty="0"/>
              <a:t>Modul de vizualizare al datelor</a:t>
            </a:r>
          </a:p>
          <a:p>
            <a:pPr marL="342900" indent="-342900">
              <a:buFontTx/>
              <a:buAutoNum type="arabicPeriod"/>
            </a:pPr>
            <a:r>
              <a:rPr lang="it-IT" sz="2400" dirty="0"/>
              <a:t>Probleme intalnite si solutii</a:t>
            </a:r>
            <a:endParaRPr lang="ro-RO" sz="2400" dirty="0"/>
          </a:p>
          <a:p>
            <a:pPr marL="342900" indent="-342900">
              <a:buAutoNum type="arabicPeriod"/>
            </a:pPr>
            <a:r>
              <a:rPr lang="en-US" sz="2400" dirty="0" err="1"/>
              <a:t>Planuri</a:t>
            </a:r>
            <a:r>
              <a:rPr lang="en-US" sz="2400" dirty="0"/>
              <a:t> de </a:t>
            </a:r>
            <a:r>
              <a:rPr lang="en-US" sz="2400" dirty="0" err="1"/>
              <a:t>viitor</a:t>
            </a:r>
            <a:endParaRPr lang="it-IT" sz="2400" dirty="0"/>
          </a:p>
          <a:p>
            <a:pPr marL="342900" indent="-342900">
              <a:buFontTx/>
              <a:buAutoNum type="arabicPeriod"/>
            </a:pPr>
            <a:r>
              <a:rPr lang="it-IT" sz="2400" dirty="0"/>
              <a:t>Webografie</a:t>
            </a:r>
          </a:p>
          <a:p>
            <a:pPr marL="342900" indent="-342900">
              <a:buAutoNum type="arabicPeriod"/>
            </a:pPr>
            <a:endParaRPr lang="en-US" dirty="0"/>
          </a:p>
          <a:p>
            <a:pPr marL="342900" indent="-342900">
              <a:buAutoNum type="arabicPeriod"/>
            </a:pPr>
            <a:endParaRPr lang="ro-RO" dirty="0"/>
          </a:p>
        </p:txBody>
      </p:sp>
    </p:spTree>
    <p:extLst>
      <p:ext uri="{BB962C8B-B14F-4D97-AF65-F5344CB8AC3E}">
        <p14:creationId xmlns:p14="http://schemas.microsoft.com/office/powerpoint/2010/main" val="2332330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9000" r="-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3F8510-29B5-0B7B-ADF2-21F72F14D4CF}"/>
              </a:ext>
            </a:extLst>
          </p:cNvPr>
          <p:cNvSpPr txBox="1"/>
          <p:nvPr/>
        </p:nvSpPr>
        <p:spPr>
          <a:xfrm>
            <a:off x="516589" y="424964"/>
            <a:ext cx="4311049" cy="461665"/>
          </a:xfrm>
          <a:prstGeom prst="rect">
            <a:avLst/>
          </a:prstGeom>
          <a:noFill/>
        </p:spPr>
        <p:txBody>
          <a:bodyPr wrap="square" rtlCol="0">
            <a:spAutoFit/>
          </a:bodyPr>
          <a:lstStyle/>
          <a:p>
            <a:r>
              <a:rPr lang="en-US" sz="2400" i="1" dirty="0">
                <a:solidFill>
                  <a:schemeClr val="bg1">
                    <a:lumMod val="95000"/>
                  </a:schemeClr>
                </a:solidFill>
                <a:latin typeface="Arial Rounded MT Bold" panose="020F0704030504030204" pitchFamily="34" charset="0"/>
              </a:rPr>
              <a:t>1.  </a:t>
            </a:r>
            <a:r>
              <a:rPr lang="ro-RO" sz="2400" i="1" dirty="0">
                <a:solidFill>
                  <a:schemeClr val="bg1">
                    <a:lumMod val="95000"/>
                  </a:schemeClr>
                </a:solidFill>
                <a:latin typeface="Arial Rounded MT Bold" panose="020F0704030504030204" pitchFamily="34" charset="0"/>
              </a:rPr>
              <a:t>O s</a:t>
            </a:r>
            <a:r>
              <a:rPr lang="en-US" sz="2400" i="1" dirty="0">
                <a:solidFill>
                  <a:schemeClr val="bg1">
                    <a:lumMod val="95000"/>
                  </a:schemeClr>
                </a:solidFill>
                <a:latin typeface="Arial Rounded MT Bold" panose="020F0704030504030204" pitchFamily="34" charset="0"/>
              </a:rPr>
              <a:t>curt</a:t>
            </a:r>
            <a:r>
              <a:rPr lang="ro-RO" sz="2400" i="1" dirty="0">
                <a:solidFill>
                  <a:schemeClr val="bg1">
                    <a:lumMod val="95000"/>
                  </a:schemeClr>
                </a:solidFill>
                <a:latin typeface="Arial Rounded MT Bold" panose="020F0704030504030204" pitchFamily="34" charset="0"/>
              </a:rPr>
              <a:t>a</a:t>
            </a:r>
            <a:r>
              <a:rPr lang="en-US" sz="2400" i="1" dirty="0">
                <a:solidFill>
                  <a:schemeClr val="bg1">
                    <a:lumMod val="95000"/>
                  </a:schemeClr>
                </a:solidFill>
                <a:latin typeface="Arial Rounded MT Bold" panose="020F0704030504030204" pitchFamily="34" charset="0"/>
              </a:rPr>
              <a:t> </a:t>
            </a:r>
            <a:r>
              <a:rPr lang="en-US" sz="2400" i="1" dirty="0" err="1">
                <a:solidFill>
                  <a:schemeClr val="bg1">
                    <a:lumMod val="95000"/>
                  </a:schemeClr>
                </a:solidFill>
                <a:latin typeface="Arial Rounded MT Bold" panose="020F0704030504030204" pitchFamily="34" charset="0"/>
              </a:rPr>
              <a:t>descriere</a:t>
            </a:r>
            <a:r>
              <a:rPr lang="en-US" sz="2400" i="1" dirty="0">
                <a:solidFill>
                  <a:schemeClr val="bg1">
                    <a:lumMod val="95000"/>
                  </a:schemeClr>
                </a:solidFill>
                <a:latin typeface="Arial Rounded MT Bold" panose="020F0704030504030204" pitchFamily="34" charset="0"/>
              </a:rPr>
              <a:t> </a:t>
            </a:r>
            <a:r>
              <a:rPr lang="ro-RO" sz="2400" i="1" dirty="0">
                <a:solidFill>
                  <a:schemeClr val="bg1">
                    <a:lumMod val="95000"/>
                  </a:schemeClr>
                </a:solidFill>
                <a:latin typeface="Arial Rounded MT Bold" panose="020F0704030504030204" pitchFamily="34" charset="0"/>
              </a:rPr>
              <a:t>...</a:t>
            </a:r>
          </a:p>
        </p:txBody>
      </p:sp>
      <p:sp>
        <p:nvSpPr>
          <p:cNvPr id="4" name="TextBox 3">
            <a:extLst>
              <a:ext uri="{FF2B5EF4-FFF2-40B4-BE49-F238E27FC236}">
                <a16:creationId xmlns:a16="http://schemas.microsoft.com/office/drawing/2014/main" id="{A47D5737-1B8F-0234-6E3A-1C6A7AA9EEAF}"/>
              </a:ext>
            </a:extLst>
          </p:cNvPr>
          <p:cNvSpPr txBox="1"/>
          <p:nvPr/>
        </p:nvSpPr>
        <p:spPr>
          <a:xfrm>
            <a:off x="155448" y="1117567"/>
            <a:ext cx="11343086" cy="3293209"/>
          </a:xfrm>
          <a:prstGeom prst="rect">
            <a:avLst/>
          </a:prstGeom>
          <a:noFill/>
        </p:spPr>
        <p:txBody>
          <a:bodyPr wrap="square" rtlCol="0">
            <a:spAutoFit/>
          </a:bodyPr>
          <a:lstStyle/>
          <a:p>
            <a:r>
              <a:rPr lang="ro-RO" sz="1600" dirty="0">
                <a:solidFill>
                  <a:schemeClr val="bg1">
                    <a:lumMod val="95000"/>
                  </a:schemeClr>
                </a:solidFill>
              </a:rPr>
              <a:t>Acest proiect </a:t>
            </a:r>
            <a:r>
              <a:rPr lang="en-US" sz="1600" dirty="0" err="1">
                <a:solidFill>
                  <a:schemeClr val="bg1">
                    <a:lumMod val="95000"/>
                  </a:schemeClr>
                </a:solidFill>
              </a:rPr>
              <a:t>urmareste</a:t>
            </a:r>
            <a:r>
              <a:rPr lang="ro-RO" sz="1600" dirty="0">
                <a:solidFill>
                  <a:schemeClr val="bg1">
                    <a:lumMod val="95000"/>
                  </a:schemeClr>
                </a:solidFill>
              </a:rPr>
              <a:t> analiza </a:t>
            </a:r>
            <a:r>
              <a:rPr lang="en-US" sz="1600" dirty="0">
                <a:solidFill>
                  <a:schemeClr val="bg1">
                    <a:lumMod val="95000"/>
                  </a:schemeClr>
                </a:solidFill>
              </a:rPr>
              <a:t>s</a:t>
            </a:r>
            <a:r>
              <a:rPr lang="ro-RO" sz="1600" dirty="0">
                <a:solidFill>
                  <a:schemeClr val="bg1">
                    <a:lumMod val="95000"/>
                  </a:schemeClr>
                </a:solidFill>
              </a:rPr>
              <a:t>i prognoza evolu</a:t>
            </a:r>
            <a:r>
              <a:rPr lang="en-US" sz="1600" dirty="0">
                <a:solidFill>
                  <a:schemeClr val="bg1">
                    <a:lumMod val="95000"/>
                  </a:schemeClr>
                </a:solidFill>
              </a:rPr>
              <a:t>t</a:t>
            </a:r>
            <a:r>
              <a:rPr lang="ro-RO" sz="1600" dirty="0">
                <a:solidFill>
                  <a:schemeClr val="bg1">
                    <a:lumMod val="95000"/>
                  </a:schemeClr>
                </a:solidFill>
              </a:rPr>
              <a:t>iei pre</a:t>
            </a:r>
            <a:r>
              <a:rPr lang="en-US" sz="1600" dirty="0">
                <a:solidFill>
                  <a:schemeClr val="bg1">
                    <a:lumMod val="95000"/>
                  </a:schemeClr>
                </a:solidFill>
              </a:rPr>
              <a:t>t</a:t>
            </a:r>
            <a:r>
              <a:rPr lang="ro-RO" sz="1600" dirty="0">
                <a:solidFill>
                  <a:schemeClr val="bg1">
                    <a:lumMod val="95000"/>
                  </a:schemeClr>
                </a:solidFill>
              </a:rPr>
              <a:t>ului apartamentelor pe metru p</a:t>
            </a:r>
            <a:r>
              <a:rPr lang="en-US" sz="1600" dirty="0">
                <a:solidFill>
                  <a:schemeClr val="bg1">
                    <a:lumMod val="95000"/>
                  </a:schemeClr>
                </a:solidFill>
              </a:rPr>
              <a:t>a</a:t>
            </a:r>
            <a:r>
              <a:rPr lang="ro-RO" sz="1600" dirty="0">
                <a:solidFill>
                  <a:schemeClr val="bg1">
                    <a:lumMod val="95000"/>
                  </a:schemeClr>
                </a:solidFill>
              </a:rPr>
              <a:t>trat </a:t>
            </a:r>
            <a:r>
              <a:rPr lang="en-US" sz="1600" dirty="0" err="1">
                <a:solidFill>
                  <a:schemeClr val="bg1">
                    <a:lumMod val="95000"/>
                  </a:schemeClr>
                </a:solidFill>
              </a:rPr>
              <a:t>i</a:t>
            </a:r>
            <a:r>
              <a:rPr lang="ro-RO" sz="1600" dirty="0">
                <a:solidFill>
                  <a:schemeClr val="bg1">
                    <a:lumMod val="95000"/>
                  </a:schemeClr>
                </a:solidFill>
              </a:rPr>
              <a:t>n municipiul Craiova, pentru perioada 1900–2050. </a:t>
            </a:r>
            <a:endParaRPr lang="en-US" sz="1600" dirty="0">
              <a:solidFill>
                <a:schemeClr val="bg1">
                  <a:lumMod val="95000"/>
                </a:schemeClr>
              </a:solidFill>
            </a:endParaRPr>
          </a:p>
          <a:p>
            <a:endParaRPr lang="en-US" sz="1600" dirty="0">
              <a:solidFill>
                <a:schemeClr val="bg1">
                  <a:lumMod val="95000"/>
                </a:schemeClr>
              </a:solidFill>
            </a:endParaRPr>
          </a:p>
          <a:p>
            <a:r>
              <a:rPr lang="en-US" sz="1600" dirty="0">
                <a:solidFill>
                  <a:schemeClr val="bg1">
                    <a:lumMod val="95000"/>
                  </a:schemeClr>
                </a:solidFill>
              </a:rPr>
              <a:t>I</a:t>
            </a:r>
            <a:r>
              <a:rPr lang="ro-RO" sz="1600" dirty="0">
                <a:solidFill>
                  <a:schemeClr val="bg1">
                    <a:lumMod val="95000"/>
                  </a:schemeClr>
                </a:solidFill>
              </a:rPr>
              <a:t>n lipsa datelor reale pentru intervalul anterior anului 2012, a fost construit</a:t>
            </a:r>
            <a:r>
              <a:rPr lang="en-US" sz="1600" dirty="0">
                <a:solidFill>
                  <a:schemeClr val="bg1">
                    <a:lumMod val="95000"/>
                  </a:schemeClr>
                </a:solidFill>
              </a:rPr>
              <a:t>a</a:t>
            </a:r>
            <a:r>
              <a:rPr lang="ro-RO" sz="1600" dirty="0">
                <a:solidFill>
                  <a:schemeClr val="bg1">
                    <a:lumMod val="95000"/>
                  </a:schemeClr>
                </a:solidFill>
              </a:rPr>
              <a:t> o serie istoric</a:t>
            </a:r>
            <a:r>
              <a:rPr lang="en-US" sz="1600" dirty="0">
                <a:solidFill>
                  <a:schemeClr val="bg1">
                    <a:lumMod val="95000"/>
                  </a:schemeClr>
                </a:solidFill>
              </a:rPr>
              <a:t>a</a:t>
            </a:r>
            <a:r>
              <a:rPr lang="ro-RO" sz="1600" dirty="0">
                <a:solidFill>
                  <a:schemeClr val="bg1">
                    <a:lumMod val="95000"/>
                  </a:schemeClr>
                </a:solidFill>
              </a:rPr>
              <a:t> sintetic</a:t>
            </a:r>
            <a:r>
              <a:rPr lang="en-US" sz="1600" dirty="0">
                <a:solidFill>
                  <a:schemeClr val="bg1">
                    <a:lumMod val="95000"/>
                  </a:schemeClr>
                </a:solidFill>
              </a:rPr>
              <a:t>a</a:t>
            </a:r>
            <a:r>
              <a:rPr lang="ro-RO" sz="1600" dirty="0">
                <a:solidFill>
                  <a:schemeClr val="bg1">
                    <a:lumMod val="95000"/>
                  </a:schemeClr>
                </a:solidFill>
              </a:rPr>
              <a:t> (1900–2011) pe baza unor </a:t>
            </a:r>
            <a:r>
              <a:rPr lang="en-US" sz="1600" dirty="0" err="1">
                <a:solidFill>
                  <a:schemeClr val="bg1">
                    <a:lumMod val="95000"/>
                  </a:schemeClr>
                </a:solidFill>
              </a:rPr>
              <a:t>formule</a:t>
            </a:r>
            <a:r>
              <a:rPr lang="en-US" sz="1600" dirty="0">
                <a:solidFill>
                  <a:schemeClr val="bg1">
                    <a:lumMod val="95000"/>
                  </a:schemeClr>
                </a:solidFill>
              </a:rPr>
              <a:t> </a:t>
            </a:r>
            <a:r>
              <a:rPr lang="en-US" sz="1600" dirty="0" err="1">
                <a:solidFill>
                  <a:schemeClr val="bg1">
                    <a:lumMod val="95000"/>
                  </a:schemeClr>
                </a:solidFill>
              </a:rPr>
              <a:t>matematice</a:t>
            </a:r>
            <a:r>
              <a:rPr lang="en-US" sz="1600" dirty="0">
                <a:solidFill>
                  <a:schemeClr val="bg1">
                    <a:lumMod val="95000"/>
                  </a:schemeClr>
                </a:solidFill>
              </a:rPr>
              <a:t> simple</a:t>
            </a:r>
            <a:r>
              <a:rPr lang="ro-RO" sz="1600" dirty="0">
                <a:solidFill>
                  <a:schemeClr val="bg1">
                    <a:lumMod val="95000"/>
                  </a:schemeClr>
                </a:solidFill>
              </a:rPr>
              <a:t>, care a fost </a:t>
            </a:r>
            <a:r>
              <a:rPr lang="en-US" sz="1600" dirty="0" err="1">
                <a:solidFill>
                  <a:schemeClr val="bg1">
                    <a:lumMod val="95000"/>
                  </a:schemeClr>
                </a:solidFill>
              </a:rPr>
              <a:t>impartita</a:t>
            </a:r>
            <a:r>
              <a:rPr lang="ro-RO" sz="1600" dirty="0">
                <a:solidFill>
                  <a:schemeClr val="bg1">
                    <a:lumMod val="95000"/>
                  </a:schemeClr>
                </a:solidFill>
              </a:rPr>
              <a:t> pe perioade istorice importante(Comunism, WW1, WW2 etc.) </a:t>
            </a:r>
            <a:r>
              <a:rPr lang="en-US" sz="1600" dirty="0">
                <a:solidFill>
                  <a:schemeClr val="bg1">
                    <a:lumMod val="95000"/>
                  </a:schemeClr>
                </a:solidFill>
              </a:rPr>
              <a:t>s</a:t>
            </a:r>
            <a:r>
              <a:rPr lang="ro-RO" sz="1600" dirty="0">
                <a:solidFill>
                  <a:schemeClr val="bg1">
                    <a:lumMod val="95000"/>
                  </a:schemeClr>
                </a:solidFill>
              </a:rPr>
              <a:t>i care </a:t>
            </a:r>
            <a:r>
              <a:rPr lang="en-US" sz="1600" dirty="0">
                <a:solidFill>
                  <a:schemeClr val="bg1">
                    <a:lumMod val="95000"/>
                  </a:schemeClr>
                </a:solidFill>
              </a:rPr>
              <a:t>s</a:t>
            </a:r>
            <a:r>
              <a:rPr lang="ro-RO" sz="1600" dirty="0">
                <a:solidFill>
                  <a:schemeClr val="bg1">
                    <a:lumMod val="95000"/>
                  </a:schemeClr>
                </a:solidFill>
              </a:rPr>
              <a:t>i-au pus amprenta asupra pie</a:t>
            </a:r>
            <a:r>
              <a:rPr lang="en-US" sz="1600" dirty="0">
                <a:solidFill>
                  <a:schemeClr val="bg1">
                    <a:lumMod val="95000"/>
                  </a:schemeClr>
                </a:solidFill>
              </a:rPr>
              <a:t>t</a:t>
            </a:r>
            <a:r>
              <a:rPr lang="ro-RO" sz="1600" dirty="0">
                <a:solidFill>
                  <a:schemeClr val="bg1">
                    <a:lumMod val="95000"/>
                  </a:schemeClr>
                </a:solidFill>
              </a:rPr>
              <a:t>ei imobiliarelor.</a:t>
            </a:r>
            <a:endParaRPr lang="en-US" sz="1600" dirty="0">
              <a:solidFill>
                <a:schemeClr val="bg1">
                  <a:lumMod val="95000"/>
                </a:schemeClr>
              </a:solidFill>
            </a:endParaRPr>
          </a:p>
          <a:p>
            <a:endParaRPr lang="en-US" sz="1600" dirty="0">
              <a:solidFill>
                <a:schemeClr val="bg1">
                  <a:lumMod val="95000"/>
                </a:schemeClr>
              </a:solidFill>
            </a:endParaRPr>
          </a:p>
          <a:p>
            <a:r>
              <a:rPr lang="ro-RO" sz="1600" dirty="0">
                <a:solidFill>
                  <a:schemeClr val="bg1">
                    <a:lumMod val="95000"/>
                  </a:schemeClr>
                </a:solidFill>
              </a:rPr>
              <a:t>Pentru perioada 2012–2025 au fost utilizate date reale de pia</a:t>
            </a:r>
            <a:r>
              <a:rPr lang="en-US" sz="1600" dirty="0">
                <a:solidFill>
                  <a:schemeClr val="bg1">
                    <a:lumMod val="95000"/>
                  </a:schemeClr>
                </a:solidFill>
              </a:rPr>
              <a:t>ta</a:t>
            </a:r>
            <a:r>
              <a:rPr lang="ro-RO" sz="1600" dirty="0">
                <a:solidFill>
                  <a:schemeClr val="bg1">
                    <a:lumMod val="95000"/>
                  </a:schemeClr>
                </a:solidFill>
              </a:rPr>
              <a:t>. </a:t>
            </a:r>
            <a:endParaRPr lang="en-US" sz="1600" dirty="0">
              <a:solidFill>
                <a:schemeClr val="bg1">
                  <a:lumMod val="95000"/>
                </a:schemeClr>
              </a:solidFill>
            </a:endParaRPr>
          </a:p>
          <a:p>
            <a:endParaRPr lang="en-US" sz="1600" dirty="0">
              <a:solidFill>
                <a:schemeClr val="bg1">
                  <a:lumMod val="95000"/>
                </a:schemeClr>
              </a:solidFill>
            </a:endParaRPr>
          </a:p>
          <a:p>
            <a:r>
              <a:rPr lang="ro-RO" sz="1600" dirty="0">
                <a:solidFill>
                  <a:schemeClr val="bg1">
                    <a:lumMod val="95000"/>
                  </a:schemeClr>
                </a:solidFill>
              </a:rPr>
              <a:t>Mai multe modele statistice </a:t>
            </a:r>
            <a:r>
              <a:rPr lang="en-US" sz="1600" dirty="0">
                <a:solidFill>
                  <a:schemeClr val="bg1">
                    <a:lumMod val="95000"/>
                  </a:schemeClr>
                </a:solidFill>
              </a:rPr>
              <a:t>s</a:t>
            </a:r>
            <a:r>
              <a:rPr lang="ro-RO" sz="1600" dirty="0">
                <a:solidFill>
                  <a:schemeClr val="bg1">
                    <a:lumMod val="95000"/>
                  </a:schemeClr>
                </a:solidFill>
              </a:rPr>
              <a:t>i de </a:t>
            </a:r>
            <a:r>
              <a:rPr lang="en-US" sz="1600" dirty="0" err="1">
                <a:solidFill>
                  <a:schemeClr val="bg1">
                    <a:lumMod val="95000"/>
                  </a:schemeClr>
                </a:solidFill>
              </a:rPr>
              <a:t>invatare</a:t>
            </a:r>
            <a:r>
              <a:rPr lang="en-US" sz="1600" dirty="0">
                <a:solidFill>
                  <a:schemeClr val="bg1">
                    <a:lumMod val="95000"/>
                  </a:schemeClr>
                </a:solidFill>
              </a:rPr>
              <a:t> automata </a:t>
            </a:r>
            <a:r>
              <a:rPr lang="ro-RO" sz="1600" dirty="0">
                <a:solidFill>
                  <a:schemeClr val="bg1">
                    <a:lumMod val="95000"/>
                  </a:schemeClr>
                </a:solidFill>
              </a:rPr>
              <a:t>au fost testate pentru generarea predic</a:t>
            </a:r>
            <a:r>
              <a:rPr lang="en-US" sz="1600" dirty="0">
                <a:solidFill>
                  <a:schemeClr val="bg1">
                    <a:lumMod val="95000"/>
                  </a:schemeClr>
                </a:solidFill>
              </a:rPr>
              <a:t>t</a:t>
            </a:r>
            <a:r>
              <a:rPr lang="ro-RO" sz="1600" dirty="0">
                <a:solidFill>
                  <a:schemeClr val="bg1">
                    <a:lumMod val="95000"/>
                  </a:schemeClr>
                </a:solidFill>
              </a:rPr>
              <a:t>iilor pe 10, respectiv 25 de ani(2026-2035, respectiv, 2026-2050), iar solu</a:t>
            </a:r>
            <a:r>
              <a:rPr lang="en-US" sz="1600" dirty="0">
                <a:solidFill>
                  <a:schemeClr val="bg1">
                    <a:lumMod val="95000"/>
                  </a:schemeClr>
                </a:solidFill>
              </a:rPr>
              <a:t>t</a:t>
            </a:r>
            <a:r>
              <a:rPr lang="ro-RO" sz="1600" dirty="0">
                <a:solidFill>
                  <a:schemeClr val="bg1">
                    <a:lumMod val="95000"/>
                  </a:schemeClr>
                </a:solidFill>
              </a:rPr>
              <a:t>ia final</a:t>
            </a:r>
            <a:r>
              <a:rPr lang="en-US" sz="1600" dirty="0">
                <a:solidFill>
                  <a:schemeClr val="bg1">
                    <a:lumMod val="95000"/>
                  </a:schemeClr>
                </a:solidFill>
              </a:rPr>
              <a:t>a</a:t>
            </a:r>
            <a:r>
              <a:rPr lang="ro-RO" sz="1600" dirty="0">
                <a:solidFill>
                  <a:schemeClr val="bg1">
                    <a:lumMod val="95000"/>
                  </a:schemeClr>
                </a:solidFill>
              </a:rPr>
              <a:t> adoptat</a:t>
            </a:r>
            <a:r>
              <a:rPr lang="en-US" sz="1600" dirty="0">
                <a:solidFill>
                  <a:schemeClr val="bg1">
                    <a:lumMod val="95000"/>
                  </a:schemeClr>
                </a:solidFill>
              </a:rPr>
              <a:t>a</a:t>
            </a:r>
            <a:r>
              <a:rPr lang="ro-RO" sz="1600" dirty="0">
                <a:solidFill>
                  <a:schemeClr val="bg1">
                    <a:lumMod val="95000"/>
                  </a:schemeClr>
                </a:solidFill>
              </a:rPr>
              <a:t> pentru perioada pe termen lung este un model hibrid care combin</a:t>
            </a:r>
            <a:r>
              <a:rPr lang="en-US" sz="1600" dirty="0">
                <a:solidFill>
                  <a:schemeClr val="bg1">
                    <a:lumMod val="95000"/>
                  </a:schemeClr>
                </a:solidFill>
              </a:rPr>
              <a:t>a</a:t>
            </a:r>
            <a:r>
              <a:rPr lang="ro-RO" sz="1600" dirty="0">
                <a:solidFill>
                  <a:schemeClr val="bg1">
                    <a:lumMod val="95000"/>
                  </a:schemeClr>
                </a:solidFill>
              </a:rPr>
              <a:t> un model de tip State Space pentru estimarea trendului pe termen lung cu un algoritm CatBoost pentru corectarea reziduurilor, oferind prognoze stabile </a:t>
            </a:r>
            <a:r>
              <a:rPr lang="en-US" sz="1600" dirty="0">
                <a:solidFill>
                  <a:schemeClr val="bg1">
                    <a:lumMod val="95000"/>
                  </a:schemeClr>
                </a:solidFill>
              </a:rPr>
              <a:t>s</a:t>
            </a:r>
            <a:r>
              <a:rPr lang="ro-RO" sz="1600" dirty="0">
                <a:solidFill>
                  <a:schemeClr val="bg1">
                    <a:lumMod val="95000"/>
                  </a:schemeClr>
                </a:solidFill>
              </a:rPr>
              <a:t>i economic plauzibile pe termen lung.</a:t>
            </a:r>
          </a:p>
        </p:txBody>
      </p:sp>
    </p:spTree>
    <p:extLst>
      <p:ext uri="{BB962C8B-B14F-4D97-AF65-F5344CB8AC3E}">
        <p14:creationId xmlns:p14="http://schemas.microsoft.com/office/powerpoint/2010/main" val="2211337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9000" r="-9000"/>
          </a:stretch>
        </a:blipFill>
        <a:effectLst/>
      </p:bgPr>
    </p:bg>
    <p:spTree>
      <p:nvGrpSpPr>
        <p:cNvPr id="1" name="">
          <a:extLst>
            <a:ext uri="{FF2B5EF4-FFF2-40B4-BE49-F238E27FC236}">
              <a16:creationId xmlns:a16="http://schemas.microsoft.com/office/drawing/2014/main" id="{45BCF1B3-E86D-27BF-3C72-9F311B5556C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4BC0B15-ECE2-84CB-BFCE-CB48E05FD45A}"/>
              </a:ext>
            </a:extLst>
          </p:cNvPr>
          <p:cNvSpPr txBox="1"/>
          <p:nvPr/>
        </p:nvSpPr>
        <p:spPr>
          <a:xfrm>
            <a:off x="0" y="432222"/>
            <a:ext cx="12192000" cy="5755422"/>
          </a:xfrm>
          <a:prstGeom prst="rect">
            <a:avLst/>
          </a:prstGeom>
          <a:noFill/>
        </p:spPr>
        <p:txBody>
          <a:bodyPr wrap="square">
            <a:spAutoFit/>
          </a:bodyPr>
          <a:lstStyle/>
          <a:p>
            <a:r>
              <a:rPr lang="en-US" sz="2400" b="1" dirty="0">
                <a:solidFill>
                  <a:schemeClr val="bg1">
                    <a:lumMod val="95000"/>
                  </a:schemeClr>
                </a:solidFill>
              </a:rPr>
              <a:t>	</a:t>
            </a:r>
            <a:r>
              <a:rPr lang="en-US" sz="3200" b="1" dirty="0">
                <a:solidFill>
                  <a:schemeClr val="bg1">
                    <a:lumMod val="95000"/>
                  </a:schemeClr>
                </a:solidFill>
              </a:rPr>
              <a:t>2. </a:t>
            </a:r>
            <a:r>
              <a:rPr lang="en-US" sz="3200" b="1" dirty="0" err="1">
                <a:solidFill>
                  <a:schemeClr val="bg1">
                    <a:lumMod val="95000"/>
                  </a:schemeClr>
                </a:solidFill>
              </a:rPr>
              <a:t>Detalii</a:t>
            </a:r>
            <a:r>
              <a:rPr lang="en-US" sz="3200" b="1" dirty="0">
                <a:solidFill>
                  <a:schemeClr val="bg1">
                    <a:lumMod val="95000"/>
                  </a:schemeClr>
                </a:solidFill>
              </a:rPr>
              <a:t> </a:t>
            </a:r>
            <a:r>
              <a:rPr lang="en-US" sz="3200" b="1" dirty="0" err="1">
                <a:solidFill>
                  <a:schemeClr val="bg1">
                    <a:lumMod val="95000"/>
                  </a:schemeClr>
                </a:solidFill>
              </a:rPr>
              <a:t>despre</a:t>
            </a:r>
            <a:r>
              <a:rPr lang="en-US" sz="3200" b="1" dirty="0">
                <a:solidFill>
                  <a:schemeClr val="bg1">
                    <a:lumMod val="95000"/>
                  </a:schemeClr>
                </a:solidFill>
              </a:rPr>
              <a:t> environment:</a:t>
            </a:r>
          </a:p>
          <a:p>
            <a:r>
              <a:rPr lang="en-US" sz="2400" b="1" dirty="0">
                <a:solidFill>
                  <a:schemeClr val="bg1">
                    <a:lumMod val="95000"/>
                  </a:schemeClr>
                </a:solidFill>
              </a:rPr>
              <a:t>    </a:t>
            </a:r>
          </a:p>
          <a:p>
            <a:r>
              <a:rPr lang="en-US" sz="2400" b="1" dirty="0">
                <a:solidFill>
                  <a:schemeClr val="bg1">
                    <a:lumMod val="95000"/>
                  </a:schemeClr>
                </a:solidFill>
              </a:rPr>
              <a:t>   		</a:t>
            </a:r>
            <a:r>
              <a:rPr lang="en-US" sz="2400" b="1" i="1" dirty="0" err="1">
                <a:solidFill>
                  <a:schemeClr val="bg1">
                    <a:lumMod val="95000"/>
                  </a:schemeClr>
                </a:solidFill>
              </a:rPr>
              <a:t>Editorul</a:t>
            </a:r>
            <a:r>
              <a:rPr lang="en-US" sz="2400" b="1" i="1" dirty="0">
                <a:solidFill>
                  <a:schemeClr val="bg1">
                    <a:lumMod val="95000"/>
                  </a:schemeClr>
                </a:solidFill>
              </a:rPr>
              <a:t> de cod </a:t>
            </a:r>
            <a:r>
              <a:rPr lang="en-US" sz="2400" b="1" i="1" dirty="0" err="1">
                <a:solidFill>
                  <a:schemeClr val="bg1">
                    <a:lumMod val="95000"/>
                  </a:schemeClr>
                </a:solidFill>
              </a:rPr>
              <a:t>folosit</a:t>
            </a:r>
            <a:r>
              <a:rPr lang="en-US" sz="2400" b="1" i="1" dirty="0">
                <a:solidFill>
                  <a:schemeClr val="bg1">
                    <a:lumMod val="95000"/>
                  </a:schemeClr>
                </a:solidFill>
              </a:rPr>
              <a:t> </a:t>
            </a:r>
            <a:r>
              <a:rPr lang="en-US" sz="2400" b="1" dirty="0">
                <a:solidFill>
                  <a:schemeClr val="bg1">
                    <a:lumMod val="95000"/>
                  </a:schemeClr>
                </a:solidFill>
              </a:rPr>
              <a:t>: </a:t>
            </a:r>
            <a:r>
              <a:rPr lang="en-US" sz="2400" dirty="0" err="1">
                <a:solidFill>
                  <a:schemeClr val="bg1">
                    <a:lumMod val="95000"/>
                  </a:schemeClr>
                </a:solidFill>
              </a:rPr>
              <a:t>PYCharm</a:t>
            </a:r>
            <a:endParaRPr lang="en-US" sz="2400" dirty="0">
              <a:solidFill>
                <a:schemeClr val="bg1">
                  <a:lumMod val="95000"/>
                </a:schemeClr>
              </a:solidFill>
            </a:endParaRPr>
          </a:p>
          <a:p>
            <a:r>
              <a:rPr lang="en-US" sz="2400" b="1" dirty="0">
                <a:solidFill>
                  <a:schemeClr val="bg1">
                    <a:lumMod val="95000"/>
                  </a:schemeClr>
                </a:solidFill>
              </a:rPr>
              <a:t>                           </a:t>
            </a:r>
            <a:r>
              <a:rPr lang="en-US" sz="2400" b="1" i="1" dirty="0" err="1">
                <a:solidFill>
                  <a:schemeClr val="bg1">
                    <a:lumMod val="95000"/>
                  </a:schemeClr>
                </a:solidFill>
              </a:rPr>
              <a:t>Versiune</a:t>
            </a:r>
            <a:r>
              <a:rPr lang="en-US" sz="2400" b="1" i="1" dirty="0">
                <a:solidFill>
                  <a:schemeClr val="bg1">
                    <a:lumMod val="95000"/>
                  </a:schemeClr>
                </a:solidFill>
              </a:rPr>
              <a:t> de Python</a:t>
            </a:r>
            <a:r>
              <a:rPr lang="en-US" sz="2400" b="1" dirty="0">
                <a:solidFill>
                  <a:schemeClr val="bg1">
                    <a:lumMod val="95000"/>
                  </a:schemeClr>
                </a:solidFill>
              </a:rPr>
              <a:t>: </a:t>
            </a:r>
            <a:r>
              <a:rPr lang="en-US" sz="2400" dirty="0">
                <a:solidFill>
                  <a:schemeClr val="bg1">
                    <a:lumMod val="95000"/>
                  </a:schemeClr>
                </a:solidFill>
              </a:rPr>
              <a:t>3.10.4</a:t>
            </a:r>
          </a:p>
          <a:p>
            <a:endParaRPr lang="en-US" sz="2400" b="1" dirty="0">
              <a:solidFill>
                <a:schemeClr val="bg1">
                  <a:lumMod val="95000"/>
                </a:schemeClr>
              </a:solidFill>
            </a:endParaRPr>
          </a:p>
          <a:p>
            <a:endParaRPr lang="en-US" sz="2400" b="1" dirty="0">
              <a:solidFill>
                <a:schemeClr val="bg1">
                  <a:lumMod val="95000"/>
                </a:schemeClr>
              </a:solidFill>
            </a:endParaRPr>
          </a:p>
          <a:p>
            <a:r>
              <a:rPr lang="en-US" sz="2400" b="1" dirty="0">
                <a:solidFill>
                  <a:schemeClr val="bg1">
                    <a:lumMod val="95000"/>
                  </a:schemeClr>
                </a:solidFill>
              </a:rPr>
              <a:t>		</a:t>
            </a:r>
            <a:r>
              <a:rPr lang="en-US" sz="2400" b="1" i="1" dirty="0">
                <a:solidFill>
                  <a:schemeClr val="bg1">
                    <a:lumMod val="95000"/>
                  </a:schemeClr>
                </a:solidFill>
              </a:rPr>
              <a:t>Cele </a:t>
            </a:r>
            <a:r>
              <a:rPr lang="en-US" sz="2400" b="1" i="1" dirty="0" err="1">
                <a:solidFill>
                  <a:schemeClr val="bg1">
                    <a:lumMod val="95000"/>
                  </a:schemeClr>
                </a:solidFill>
              </a:rPr>
              <a:t>mai</a:t>
            </a:r>
            <a:r>
              <a:rPr lang="en-US" sz="2400" b="1" i="1" dirty="0">
                <a:solidFill>
                  <a:schemeClr val="bg1">
                    <a:lumMod val="95000"/>
                  </a:schemeClr>
                </a:solidFill>
              </a:rPr>
              <a:t> </a:t>
            </a:r>
            <a:r>
              <a:rPr lang="en-US" sz="2400" b="1" i="1" dirty="0" err="1">
                <a:solidFill>
                  <a:schemeClr val="bg1">
                    <a:lumMod val="95000"/>
                  </a:schemeClr>
                </a:solidFill>
              </a:rPr>
              <a:t>folosite</a:t>
            </a:r>
            <a:r>
              <a:rPr lang="en-US" sz="2400" b="1" i="1" dirty="0">
                <a:solidFill>
                  <a:schemeClr val="bg1">
                    <a:lumMod val="95000"/>
                  </a:schemeClr>
                </a:solidFill>
              </a:rPr>
              <a:t> module</a:t>
            </a:r>
            <a:r>
              <a:rPr lang="en-US" sz="2400" b="1" dirty="0">
                <a:solidFill>
                  <a:schemeClr val="bg1">
                    <a:lumMod val="95000"/>
                  </a:schemeClr>
                </a:solidFill>
              </a:rPr>
              <a:t>:</a:t>
            </a:r>
          </a:p>
          <a:p>
            <a:endParaRPr lang="en-US" sz="2400" b="1" dirty="0">
              <a:solidFill>
                <a:schemeClr val="bg1">
                  <a:lumMod val="95000"/>
                </a:schemeClr>
              </a:solidFill>
            </a:endParaRPr>
          </a:p>
          <a:p>
            <a:r>
              <a:rPr lang="en-US" sz="2400" b="1" dirty="0">
                <a:solidFill>
                  <a:schemeClr val="bg1">
                    <a:lumMod val="95000"/>
                  </a:schemeClr>
                </a:solidFill>
              </a:rPr>
              <a:t>		</a:t>
            </a:r>
            <a:r>
              <a:rPr lang="en-US" sz="2400" dirty="0">
                <a:solidFill>
                  <a:schemeClr val="bg1">
                    <a:lumMod val="95000"/>
                  </a:schemeClr>
                </a:solidFill>
              </a:rPr>
              <a:t>pandas </a:t>
            </a:r>
          </a:p>
          <a:p>
            <a:r>
              <a:rPr lang="en-US" sz="2400" dirty="0">
                <a:solidFill>
                  <a:schemeClr val="bg1">
                    <a:lumMod val="95000"/>
                  </a:schemeClr>
                </a:solidFill>
              </a:rPr>
              <a:t>		matplotlib</a:t>
            </a:r>
          </a:p>
          <a:p>
            <a:r>
              <a:rPr lang="en-US" sz="2400" dirty="0">
                <a:solidFill>
                  <a:schemeClr val="bg1">
                    <a:lumMod val="95000"/>
                  </a:schemeClr>
                </a:solidFill>
              </a:rPr>
              <a:t>		scikit-learn</a:t>
            </a:r>
          </a:p>
          <a:p>
            <a:r>
              <a:rPr lang="en-US" sz="2400" dirty="0">
                <a:solidFill>
                  <a:schemeClr val="bg1">
                    <a:lumMod val="95000"/>
                  </a:schemeClr>
                </a:solidFill>
              </a:rPr>
              <a:t>		</a:t>
            </a:r>
            <a:r>
              <a:rPr lang="en-US" sz="2400" dirty="0" err="1">
                <a:solidFill>
                  <a:schemeClr val="bg1">
                    <a:lumMod val="95000"/>
                  </a:schemeClr>
                </a:solidFill>
              </a:rPr>
              <a:t>beautifulsoup</a:t>
            </a:r>
            <a:endParaRPr lang="en-US" sz="2400" dirty="0">
              <a:solidFill>
                <a:schemeClr val="bg1">
                  <a:lumMod val="95000"/>
                </a:schemeClr>
              </a:solidFill>
            </a:endParaRPr>
          </a:p>
          <a:p>
            <a:r>
              <a:rPr lang="en-US" sz="2400" dirty="0">
                <a:solidFill>
                  <a:schemeClr val="bg1">
                    <a:lumMod val="95000"/>
                  </a:schemeClr>
                </a:solidFill>
              </a:rPr>
              <a:t>		</a:t>
            </a:r>
            <a:r>
              <a:rPr lang="en-US" sz="2400" dirty="0" err="1">
                <a:solidFill>
                  <a:schemeClr val="bg1">
                    <a:lumMod val="95000"/>
                  </a:schemeClr>
                </a:solidFill>
              </a:rPr>
              <a:t>streamlit</a:t>
            </a:r>
            <a:endParaRPr lang="en-US" sz="2400" dirty="0">
              <a:solidFill>
                <a:schemeClr val="bg1">
                  <a:lumMod val="95000"/>
                </a:schemeClr>
              </a:solidFill>
            </a:endParaRPr>
          </a:p>
          <a:p>
            <a:r>
              <a:rPr lang="en-US" sz="2400" dirty="0">
                <a:solidFill>
                  <a:schemeClr val="bg1">
                    <a:lumMod val="95000"/>
                  </a:schemeClr>
                </a:solidFill>
              </a:rPr>
              <a:t>		</a:t>
            </a:r>
            <a:r>
              <a:rPr lang="en-US" sz="2400" dirty="0" err="1">
                <a:solidFill>
                  <a:schemeClr val="bg1">
                    <a:lumMod val="95000"/>
                  </a:schemeClr>
                </a:solidFill>
              </a:rPr>
              <a:t>scipy</a:t>
            </a:r>
            <a:endParaRPr lang="en-US" sz="2400" dirty="0">
              <a:solidFill>
                <a:schemeClr val="bg1">
                  <a:lumMod val="95000"/>
                </a:schemeClr>
              </a:solidFill>
            </a:endParaRPr>
          </a:p>
          <a:p>
            <a:r>
              <a:rPr lang="en-US" sz="2400" dirty="0">
                <a:solidFill>
                  <a:schemeClr val="bg1">
                    <a:lumMod val="95000"/>
                  </a:schemeClr>
                </a:solidFill>
              </a:rPr>
              <a:t>	</a:t>
            </a:r>
            <a:endParaRPr lang="en-US" sz="1600" dirty="0">
              <a:solidFill>
                <a:schemeClr val="bg1">
                  <a:lumMod val="95000"/>
                </a:schemeClr>
              </a:solidFill>
            </a:endParaRPr>
          </a:p>
        </p:txBody>
      </p:sp>
    </p:spTree>
    <p:extLst>
      <p:ext uri="{BB962C8B-B14F-4D97-AF65-F5344CB8AC3E}">
        <p14:creationId xmlns:p14="http://schemas.microsoft.com/office/powerpoint/2010/main" val="2834311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9000" r="-9000"/>
          </a:stretch>
        </a:blipFill>
        <a:effectLst/>
      </p:bgPr>
    </p:bg>
    <p:spTree>
      <p:nvGrpSpPr>
        <p:cNvPr id="1" name="">
          <a:extLst>
            <a:ext uri="{FF2B5EF4-FFF2-40B4-BE49-F238E27FC236}">
              <a16:creationId xmlns:a16="http://schemas.microsoft.com/office/drawing/2014/main" id="{F571D5D4-C5F0-EAD5-367A-43942448C7A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5765321-9F2B-5774-A795-7395C7990D79}"/>
              </a:ext>
            </a:extLst>
          </p:cNvPr>
          <p:cNvSpPr txBox="1"/>
          <p:nvPr/>
        </p:nvSpPr>
        <p:spPr>
          <a:xfrm>
            <a:off x="0" y="432222"/>
            <a:ext cx="12192000" cy="6247864"/>
          </a:xfrm>
          <a:prstGeom prst="rect">
            <a:avLst/>
          </a:prstGeom>
          <a:noFill/>
        </p:spPr>
        <p:txBody>
          <a:bodyPr wrap="square">
            <a:spAutoFit/>
          </a:bodyPr>
          <a:lstStyle/>
          <a:p>
            <a:pPr algn="ctr"/>
            <a:r>
              <a:rPr lang="en-US" sz="2400" b="1" dirty="0">
                <a:solidFill>
                  <a:schemeClr val="bg1">
                    <a:lumMod val="95000"/>
                  </a:schemeClr>
                </a:solidFill>
              </a:rPr>
              <a:t>3. Module </a:t>
            </a:r>
            <a:r>
              <a:rPr lang="en-US" sz="2400" b="1" dirty="0" err="1">
                <a:solidFill>
                  <a:schemeClr val="bg1">
                    <a:lumMod val="95000"/>
                  </a:schemeClr>
                </a:solidFill>
              </a:rPr>
              <a:t>folosite</a:t>
            </a:r>
            <a:r>
              <a:rPr lang="en-US" sz="2400" b="1" dirty="0">
                <a:solidFill>
                  <a:schemeClr val="bg1">
                    <a:lumMod val="95000"/>
                  </a:schemeClr>
                </a:solidFill>
              </a:rPr>
              <a:t>:</a:t>
            </a:r>
          </a:p>
          <a:p>
            <a:r>
              <a:rPr lang="en-US" sz="2400" b="1" dirty="0">
                <a:solidFill>
                  <a:schemeClr val="bg1">
                    <a:lumMod val="95000"/>
                  </a:schemeClr>
                </a:solidFill>
              </a:rPr>
              <a:t>      </a:t>
            </a:r>
            <a:r>
              <a:rPr lang="en-US" sz="1600" dirty="0">
                <a:solidFill>
                  <a:schemeClr val="bg1">
                    <a:lumMod val="95000"/>
                  </a:schemeClr>
                </a:solidFill>
              </a:rPr>
              <a:t>p</a:t>
            </a:r>
            <a:r>
              <a:rPr lang="ro-RO" sz="1600" dirty="0">
                <a:solidFill>
                  <a:schemeClr val="bg1">
                    <a:lumMod val="95000"/>
                  </a:schemeClr>
                </a:solidFill>
              </a:rPr>
              <a:t>andas</a:t>
            </a:r>
            <a:endParaRPr lang="en-US" sz="1600" dirty="0">
              <a:solidFill>
                <a:schemeClr val="bg1">
                  <a:lumMod val="95000"/>
                </a:schemeClr>
              </a:solidFill>
            </a:endParaRPr>
          </a:p>
          <a:p>
            <a:r>
              <a:rPr lang="en-US" sz="1600" dirty="0">
                <a:solidFill>
                  <a:schemeClr val="bg1">
                    <a:lumMod val="95000"/>
                  </a:schemeClr>
                </a:solidFill>
              </a:rPr>
              <a:t>	m</a:t>
            </a:r>
            <a:r>
              <a:rPr lang="ro-RO" sz="1600" dirty="0">
                <a:solidFill>
                  <a:schemeClr val="bg1">
                    <a:lumMod val="95000"/>
                  </a:schemeClr>
                </a:solidFill>
              </a:rPr>
              <a:t>atplotlib</a:t>
            </a:r>
            <a:endParaRPr lang="en-US" sz="1600" dirty="0">
              <a:solidFill>
                <a:schemeClr val="bg1">
                  <a:lumMod val="95000"/>
                </a:schemeClr>
              </a:solidFill>
            </a:endParaRPr>
          </a:p>
          <a:p>
            <a:pPr lvl="4"/>
            <a:r>
              <a:rPr lang="en-US" sz="1600" dirty="0">
                <a:solidFill>
                  <a:schemeClr val="bg1">
                    <a:lumMod val="95000"/>
                  </a:schemeClr>
                </a:solidFill>
              </a:rPr>
              <a:t>s</a:t>
            </a:r>
            <a:r>
              <a:rPr lang="ro-RO" sz="1600" dirty="0">
                <a:solidFill>
                  <a:schemeClr val="bg1">
                    <a:lumMod val="95000"/>
                  </a:schemeClr>
                </a:solidFill>
              </a:rPr>
              <a:t>eaborn</a:t>
            </a:r>
            <a:endParaRPr lang="en-US" sz="1600" dirty="0">
              <a:solidFill>
                <a:schemeClr val="bg1">
                  <a:lumMod val="95000"/>
                </a:schemeClr>
              </a:solidFill>
            </a:endParaRPr>
          </a:p>
          <a:p>
            <a:pPr lvl="4"/>
            <a:r>
              <a:rPr lang="en-US" sz="1600" dirty="0">
                <a:solidFill>
                  <a:schemeClr val="bg1">
                    <a:lumMod val="95000"/>
                  </a:schemeClr>
                </a:solidFill>
              </a:rPr>
              <a:t>	</a:t>
            </a:r>
            <a:r>
              <a:rPr lang="ro-RO" sz="1600" dirty="0">
                <a:solidFill>
                  <a:schemeClr val="bg1">
                    <a:lumMod val="95000"/>
                  </a:schemeClr>
                </a:solidFill>
              </a:rPr>
              <a:t>scikit-learn</a:t>
            </a:r>
            <a:endParaRPr lang="en-US" sz="1600" dirty="0">
              <a:solidFill>
                <a:schemeClr val="bg1">
                  <a:lumMod val="95000"/>
                </a:schemeClr>
              </a:solidFill>
            </a:endParaRPr>
          </a:p>
          <a:p>
            <a:pPr lvl="4"/>
            <a:r>
              <a:rPr lang="en-US" sz="1600" dirty="0">
                <a:solidFill>
                  <a:schemeClr val="bg1">
                    <a:lumMod val="95000"/>
                  </a:schemeClr>
                </a:solidFill>
              </a:rPr>
              <a:t>		x</a:t>
            </a:r>
            <a:r>
              <a:rPr lang="ro-RO" sz="1600" dirty="0">
                <a:solidFill>
                  <a:schemeClr val="bg1">
                    <a:lumMod val="95000"/>
                  </a:schemeClr>
                </a:solidFill>
              </a:rPr>
              <a:t>gboost</a:t>
            </a:r>
            <a:endParaRPr lang="en-US" sz="1600" dirty="0">
              <a:solidFill>
                <a:schemeClr val="bg1">
                  <a:lumMod val="95000"/>
                </a:schemeClr>
              </a:solidFill>
            </a:endParaRPr>
          </a:p>
          <a:p>
            <a:pPr lvl="4"/>
            <a:r>
              <a:rPr lang="en-US" sz="1600" dirty="0">
                <a:solidFill>
                  <a:schemeClr val="bg1">
                    <a:lumMod val="95000"/>
                  </a:schemeClr>
                </a:solidFill>
              </a:rPr>
              <a:t>			l</a:t>
            </a:r>
            <a:r>
              <a:rPr lang="ro-RO" sz="1600" dirty="0">
                <a:solidFill>
                  <a:schemeClr val="bg1">
                    <a:lumMod val="95000"/>
                  </a:schemeClr>
                </a:solidFill>
              </a:rPr>
              <a:t>ightgbm</a:t>
            </a:r>
            <a:endParaRPr lang="en-US" sz="1600" dirty="0">
              <a:solidFill>
                <a:schemeClr val="bg1">
                  <a:lumMod val="95000"/>
                </a:schemeClr>
              </a:solidFill>
            </a:endParaRPr>
          </a:p>
          <a:p>
            <a:pPr lvl="4"/>
            <a:r>
              <a:rPr lang="en-US" sz="1600" dirty="0">
                <a:solidFill>
                  <a:schemeClr val="bg1">
                    <a:lumMod val="95000"/>
                  </a:schemeClr>
                </a:solidFill>
              </a:rPr>
              <a:t>				</a:t>
            </a:r>
            <a:r>
              <a:rPr lang="en-US" sz="1600" dirty="0" err="1">
                <a:solidFill>
                  <a:schemeClr val="bg1">
                    <a:lumMod val="95000"/>
                  </a:schemeClr>
                </a:solidFill>
              </a:rPr>
              <a:t>i</a:t>
            </a:r>
            <a:r>
              <a:rPr lang="ro-RO" sz="1600" dirty="0">
                <a:solidFill>
                  <a:schemeClr val="bg1">
                    <a:lumMod val="95000"/>
                  </a:schemeClr>
                </a:solidFill>
              </a:rPr>
              <a:t>mbalanced</a:t>
            </a:r>
            <a:r>
              <a:rPr lang="en-US" sz="1600" dirty="0">
                <a:solidFill>
                  <a:schemeClr val="bg1">
                    <a:lumMod val="95000"/>
                  </a:schemeClr>
                </a:solidFill>
              </a:rPr>
              <a:t>-</a:t>
            </a:r>
            <a:r>
              <a:rPr lang="ro-RO" sz="1600" dirty="0">
                <a:solidFill>
                  <a:schemeClr val="bg1">
                    <a:lumMod val="95000"/>
                  </a:schemeClr>
                </a:solidFill>
              </a:rPr>
              <a:t>learn</a:t>
            </a:r>
            <a:endParaRPr lang="en-US" sz="1600" dirty="0">
              <a:solidFill>
                <a:schemeClr val="bg1">
                  <a:lumMod val="95000"/>
                </a:schemeClr>
              </a:solidFill>
            </a:endParaRPr>
          </a:p>
          <a:p>
            <a:pPr lvl="4"/>
            <a:r>
              <a:rPr lang="en-US" sz="1600" dirty="0">
                <a:solidFill>
                  <a:schemeClr val="bg1">
                    <a:lumMod val="95000"/>
                  </a:schemeClr>
                </a:solidFill>
              </a:rPr>
              <a:t>						</a:t>
            </a:r>
            <a:r>
              <a:rPr lang="ro-RO" sz="1600" dirty="0">
                <a:solidFill>
                  <a:schemeClr val="bg1">
                    <a:lumMod val="95000"/>
                  </a:schemeClr>
                </a:solidFill>
              </a:rPr>
              <a:t>num</a:t>
            </a:r>
            <a:r>
              <a:rPr lang="en-US" sz="1600" dirty="0" err="1">
                <a:solidFill>
                  <a:schemeClr val="bg1">
                    <a:lumMod val="95000"/>
                  </a:schemeClr>
                </a:solidFill>
              </a:rPr>
              <a:t>py</a:t>
            </a:r>
            <a:endParaRPr lang="en-US" sz="1600" dirty="0">
              <a:solidFill>
                <a:schemeClr val="bg1">
                  <a:lumMod val="95000"/>
                </a:schemeClr>
              </a:solidFill>
            </a:endParaRPr>
          </a:p>
          <a:p>
            <a:pPr lvl="4"/>
            <a:r>
              <a:rPr lang="en-US" sz="1600" dirty="0">
                <a:solidFill>
                  <a:schemeClr val="bg1">
                    <a:lumMod val="95000"/>
                  </a:schemeClr>
                </a:solidFill>
              </a:rPr>
              <a:t>							p</a:t>
            </a:r>
            <a:r>
              <a:rPr lang="ro-RO" sz="1600" dirty="0">
                <a:solidFill>
                  <a:schemeClr val="bg1">
                    <a:lumMod val="95000"/>
                  </a:schemeClr>
                </a:solidFill>
              </a:rPr>
              <a:t>lotly</a:t>
            </a:r>
            <a:endParaRPr lang="en-US" sz="1600" dirty="0">
              <a:solidFill>
                <a:schemeClr val="bg1">
                  <a:lumMod val="95000"/>
                </a:schemeClr>
              </a:solidFill>
            </a:endParaRPr>
          </a:p>
          <a:p>
            <a:pPr lvl="4"/>
            <a:r>
              <a:rPr lang="en-US" sz="1600" dirty="0">
                <a:solidFill>
                  <a:schemeClr val="bg1">
                    <a:lumMod val="95000"/>
                  </a:schemeClr>
                </a:solidFill>
              </a:rPr>
              <a:t>								y</a:t>
            </a:r>
            <a:r>
              <a:rPr lang="ro-RO" sz="1600" dirty="0">
                <a:solidFill>
                  <a:schemeClr val="bg1">
                    <a:lumMod val="95000"/>
                  </a:schemeClr>
                </a:solidFill>
              </a:rPr>
              <a:t>ellowbrick</a:t>
            </a:r>
            <a:endParaRPr lang="en-US" sz="1600" dirty="0">
              <a:solidFill>
                <a:schemeClr val="bg1">
                  <a:lumMod val="95000"/>
                </a:schemeClr>
              </a:solidFill>
            </a:endParaRPr>
          </a:p>
          <a:p>
            <a:pPr lvl="4"/>
            <a:r>
              <a:rPr lang="en-US" sz="1600" dirty="0">
                <a:solidFill>
                  <a:schemeClr val="bg1">
                    <a:lumMod val="95000"/>
                  </a:schemeClr>
                </a:solidFill>
              </a:rPr>
              <a:t>									        t</a:t>
            </a:r>
            <a:r>
              <a:rPr lang="ro-RO" sz="1600" dirty="0">
                <a:solidFill>
                  <a:schemeClr val="bg1">
                    <a:lumMod val="95000"/>
                  </a:schemeClr>
                </a:solidFill>
              </a:rPr>
              <a:t>qdm</a:t>
            </a:r>
            <a:endParaRPr lang="en-US" sz="1600" dirty="0">
              <a:solidFill>
                <a:schemeClr val="bg1">
                  <a:lumMod val="95000"/>
                </a:schemeClr>
              </a:solidFill>
            </a:endParaRPr>
          </a:p>
          <a:p>
            <a:pPr lvl="4"/>
            <a:r>
              <a:rPr lang="en-US" sz="1600" dirty="0">
                <a:solidFill>
                  <a:schemeClr val="bg1">
                    <a:lumMod val="95000"/>
                  </a:schemeClr>
                </a:solidFill>
              </a:rPr>
              <a:t>									</a:t>
            </a:r>
          </a:p>
          <a:p>
            <a:pPr lvl="4"/>
            <a:r>
              <a:rPr lang="en-US" sz="1600" dirty="0">
                <a:solidFill>
                  <a:schemeClr val="bg1">
                    <a:lumMod val="95000"/>
                  </a:schemeClr>
                </a:solidFill>
              </a:rPr>
              <a:t>								             k</a:t>
            </a:r>
            <a:r>
              <a:rPr lang="ro-RO" sz="1600" dirty="0">
                <a:solidFill>
                  <a:schemeClr val="bg1">
                    <a:lumMod val="95000"/>
                  </a:schemeClr>
                </a:solidFill>
              </a:rPr>
              <a:t>eras</a:t>
            </a:r>
            <a:endParaRPr lang="en-US" sz="1600" dirty="0">
              <a:solidFill>
                <a:schemeClr val="bg1">
                  <a:lumMod val="95000"/>
                </a:schemeClr>
              </a:solidFill>
            </a:endParaRPr>
          </a:p>
          <a:p>
            <a:pPr lvl="4"/>
            <a:r>
              <a:rPr lang="en-US" sz="1600" dirty="0">
                <a:solidFill>
                  <a:schemeClr val="bg1">
                    <a:lumMod val="95000"/>
                  </a:schemeClr>
                </a:solidFill>
              </a:rPr>
              <a:t>							s</a:t>
            </a:r>
            <a:r>
              <a:rPr lang="ro-RO" sz="1600" dirty="0">
                <a:solidFill>
                  <a:schemeClr val="bg1">
                    <a:lumMod val="95000"/>
                  </a:schemeClr>
                </a:solidFill>
              </a:rPr>
              <a:t>treamlit</a:t>
            </a:r>
            <a:endParaRPr lang="en-US" sz="1600" dirty="0">
              <a:solidFill>
                <a:schemeClr val="bg1">
                  <a:lumMod val="95000"/>
                </a:schemeClr>
              </a:solidFill>
            </a:endParaRPr>
          </a:p>
          <a:p>
            <a:pPr lvl="4"/>
            <a:r>
              <a:rPr lang="en-US" sz="1600" dirty="0">
                <a:solidFill>
                  <a:schemeClr val="bg1">
                    <a:lumMod val="95000"/>
                  </a:schemeClr>
                </a:solidFill>
              </a:rPr>
              <a:t>					</a:t>
            </a:r>
            <a:r>
              <a:rPr lang="en-US" sz="1600" dirty="0" err="1">
                <a:solidFill>
                  <a:schemeClr val="bg1">
                    <a:lumMod val="95000"/>
                  </a:schemeClr>
                </a:solidFill>
              </a:rPr>
              <a:t>beautifulsoup</a:t>
            </a:r>
            <a:r>
              <a:rPr lang="en-US" sz="1600" dirty="0">
                <a:solidFill>
                  <a:schemeClr val="bg1">
                    <a:lumMod val="95000"/>
                  </a:schemeClr>
                </a:solidFill>
              </a:rPr>
              <a:t>(bs4)</a:t>
            </a:r>
          </a:p>
          <a:p>
            <a:pPr lvl="4"/>
            <a:r>
              <a:rPr lang="en-US" sz="1600" dirty="0">
                <a:solidFill>
                  <a:schemeClr val="bg1">
                    <a:lumMod val="95000"/>
                  </a:schemeClr>
                </a:solidFill>
              </a:rPr>
              <a:t>				r</a:t>
            </a:r>
            <a:r>
              <a:rPr lang="ro-RO" sz="1600" dirty="0">
                <a:solidFill>
                  <a:schemeClr val="bg1">
                    <a:lumMod val="95000"/>
                  </a:schemeClr>
                </a:solidFill>
              </a:rPr>
              <a:t>equests</a:t>
            </a:r>
            <a:endParaRPr lang="en-US" sz="1600" dirty="0">
              <a:solidFill>
                <a:schemeClr val="bg1">
                  <a:lumMod val="95000"/>
                </a:schemeClr>
              </a:solidFill>
            </a:endParaRPr>
          </a:p>
          <a:p>
            <a:pPr lvl="4"/>
            <a:r>
              <a:rPr lang="en-US" sz="1600" dirty="0">
                <a:solidFill>
                  <a:schemeClr val="bg1">
                    <a:lumMod val="95000"/>
                  </a:schemeClr>
                </a:solidFill>
              </a:rPr>
              <a:t>			l</a:t>
            </a:r>
            <a:r>
              <a:rPr lang="ro-RO" sz="1600" dirty="0">
                <a:solidFill>
                  <a:schemeClr val="bg1">
                    <a:lumMod val="95000"/>
                  </a:schemeClr>
                </a:solidFill>
              </a:rPr>
              <a:t>xml</a:t>
            </a:r>
            <a:endParaRPr lang="en-US" sz="1600" dirty="0">
              <a:solidFill>
                <a:schemeClr val="bg1">
                  <a:lumMod val="95000"/>
                </a:schemeClr>
              </a:solidFill>
            </a:endParaRPr>
          </a:p>
          <a:p>
            <a:pPr lvl="4"/>
            <a:r>
              <a:rPr lang="en-US" sz="1600" dirty="0">
                <a:solidFill>
                  <a:schemeClr val="bg1">
                    <a:lumMod val="95000"/>
                  </a:schemeClr>
                </a:solidFill>
              </a:rPr>
              <a:t>	s</a:t>
            </a:r>
            <a:r>
              <a:rPr lang="ro-RO" sz="1600" dirty="0">
                <a:solidFill>
                  <a:schemeClr val="bg1">
                    <a:lumMod val="95000"/>
                  </a:schemeClr>
                </a:solidFill>
              </a:rPr>
              <a:t>tatsmodels</a:t>
            </a:r>
            <a:endParaRPr lang="en-US" sz="1600" dirty="0">
              <a:solidFill>
                <a:schemeClr val="bg1">
                  <a:lumMod val="95000"/>
                </a:schemeClr>
              </a:solidFill>
            </a:endParaRPr>
          </a:p>
          <a:p>
            <a:pPr lvl="4"/>
            <a:r>
              <a:rPr lang="en-US" sz="1600" dirty="0">
                <a:solidFill>
                  <a:schemeClr val="bg1">
                    <a:lumMod val="95000"/>
                  </a:schemeClr>
                </a:solidFill>
              </a:rPr>
              <a:t>s</a:t>
            </a:r>
            <a:r>
              <a:rPr lang="ro-RO" sz="1600" dirty="0">
                <a:solidFill>
                  <a:schemeClr val="bg1">
                    <a:lumMod val="95000"/>
                  </a:schemeClr>
                </a:solidFill>
              </a:rPr>
              <a:t>cipy</a:t>
            </a:r>
            <a:endParaRPr lang="en-US" sz="1600" dirty="0">
              <a:solidFill>
                <a:schemeClr val="bg1">
                  <a:lumMod val="95000"/>
                </a:schemeClr>
              </a:solidFill>
            </a:endParaRPr>
          </a:p>
          <a:p>
            <a:pPr lvl="2"/>
            <a:r>
              <a:rPr lang="en-US" sz="1600" dirty="0" err="1">
                <a:solidFill>
                  <a:schemeClr val="bg1">
                    <a:lumMod val="95000"/>
                  </a:schemeClr>
                </a:solidFill>
              </a:rPr>
              <a:t>catboost</a:t>
            </a:r>
            <a:endParaRPr lang="en-US" sz="1600" dirty="0">
              <a:solidFill>
                <a:schemeClr val="bg1">
                  <a:lumMod val="95000"/>
                </a:schemeClr>
              </a:solidFill>
            </a:endParaRPr>
          </a:p>
          <a:p>
            <a:r>
              <a:rPr lang="en-US" sz="1600" dirty="0">
                <a:solidFill>
                  <a:schemeClr val="bg1">
                    <a:lumMod val="95000"/>
                  </a:schemeClr>
                </a:solidFill>
              </a:rPr>
              <a:t>        </a:t>
            </a:r>
            <a:r>
              <a:rPr lang="en-US" sz="1600" dirty="0" err="1">
                <a:solidFill>
                  <a:schemeClr val="bg1">
                    <a:lumMod val="95000"/>
                  </a:schemeClr>
                </a:solidFill>
              </a:rPr>
              <a:t>ngboost</a:t>
            </a:r>
            <a:endParaRPr lang="en-US" sz="1600" dirty="0">
              <a:solidFill>
                <a:schemeClr val="bg1">
                  <a:lumMod val="95000"/>
                </a:schemeClr>
              </a:solidFill>
            </a:endParaRPr>
          </a:p>
          <a:p>
            <a:pPr lvl="4"/>
            <a:endParaRPr lang="en-US" sz="1600" dirty="0">
              <a:solidFill>
                <a:schemeClr val="bg1">
                  <a:lumMod val="95000"/>
                </a:schemeClr>
              </a:solidFill>
            </a:endParaRPr>
          </a:p>
          <a:p>
            <a:pPr lvl="4"/>
            <a:endParaRPr lang="en-US" sz="1600" dirty="0">
              <a:solidFill>
                <a:schemeClr val="bg1">
                  <a:lumMod val="95000"/>
                </a:schemeClr>
              </a:solidFill>
            </a:endParaRPr>
          </a:p>
        </p:txBody>
      </p:sp>
    </p:spTree>
    <p:extLst>
      <p:ext uri="{BB962C8B-B14F-4D97-AF65-F5344CB8AC3E}">
        <p14:creationId xmlns:p14="http://schemas.microsoft.com/office/powerpoint/2010/main" val="3604639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48B585-46EA-044B-AA93-63E25E6252D4}"/>
              </a:ext>
            </a:extLst>
          </p:cNvPr>
          <p:cNvSpPr txBox="1"/>
          <p:nvPr/>
        </p:nvSpPr>
        <p:spPr>
          <a:xfrm>
            <a:off x="0" y="603504"/>
            <a:ext cx="6400800" cy="3693319"/>
          </a:xfrm>
          <a:prstGeom prst="rect">
            <a:avLst/>
          </a:prstGeom>
          <a:noFill/>
        </p:spPr>
        <p:txBody>
          <a:bodyPr wrap="square" rtlCol="0">
            <a:spAutoFit/>
          </a:bodyPr>
          <a:lstStyle/>
          <a:p>
            <a:pPr lvl="1"/>
            <a:r>
              <a:rPr lang="ro-RO" dirty="0"/>
              <a:t>Ca s</a:t>
            </a:r>
            <a:r>
              <a:rPr lang="en-US" dirty="0"/>
              <a:t>a</a:t>
            </a:r>
            <a:r>
              <a:rPr lang="ro-RO" dirty="0"/>
              <a:t> putem face ni</a:t>
            </a:r>
            <a:r>
              <a:rPr lang="en-US" dirty="0"/>
              <a:t>s</a:t>
            </a:r>
            <a:r>
              <a:rPr lang="ro-RO" dirty="0"/>
              <a:t>te predic</a:t>
            </a:r>
            <a:r>
              <a:rPr lang="en-US" dirty="0"/>
              <a:t>t</a:t>
            </a:r>
            <a:r>
              <a:rPr lang="ro-RO" dirty="0"/>
              <a:t>ii avem nevoie de un dataset, iar o parte a acestui dataset trebuie obligatoriu s</a:t>
            </a:r>
            <a:r>
              <a:rPr lang="en-US" dirty="0"/>
              <a:t>a</a:t>
            </a:r>
            <a:r>
              <a:rPr lang="ro-RO" dirty="0"/>
              <a:t> aib</a:t>
            </a:r>
            <a:r>
              <a:rPr lang="en-US" dirty="0"/>
              <a:t>a</a:t>
            </a:r>
            <a:r>
              <a:rPr lang="ro-RO" dirty="0"/>
              <a:t> ni</a:t>
            </a:r>
            <a:r>
              <a:rPr lang="en-US" dirty="0"/>
              <a:t>s</a:t>
            </a:r>
            <a:r>
              <a:rPr lang="ro-RO" dirty="0"/>
              <a:t>te date reale(dac</a:t>
            </a:r>
            <a:r>
              <a:rPr lang="en-US" dirty="0"/>
              <a:t>a</a:t>
            </a:r>
            <a:r>
              <a:rPr lang="ro-RO" dirty="0"/>
              <a:t> este posibil toate datele reale) verificate </a:t>
            </a:r>
            <a:r>
              <a:rPr lang="en-US" dirty="0"/>
              <a:t>s</a:t>
            </a:r>
            <a:r>
              <a:rPr lang="ro-RO" dirty="0"/>
              <a:t>i culese atent.</a:t>
            </a:r>
          </a:p>
          <a:p>
            <a:pPr lvl="1"/>
            <a:endParaRPr lang="ro-RO" dirty="0"/>
          </a:p>
          <a:p>
            <a:pPr lvl="1"/>
            <a:r>
              <a:rPr lang="ro-RO" dirty="0"/>
              <a:t> </a:t>
            </a:r>
            <a:r>
              <a:rPr lang="ro-RO" i="1" dirty="0"/>
              <a:t>Cum culegem </a:t>
            </a:r>
            <a:r>
              <a:rPr lang="en-US" i="1" dirty="0"/>
              <a:t>s</a:t>
            </a:r>
            <a:r>
              <a:rPr lang="ro-RO" i="1" dirty="0"/>
              <a:t>i mai ales cum alegem datele noastre?</a:t>
            </a:r>
          </a:p>
          <a:p>
            <a:pPr lvl="1"/>
            <a:endParaRPr lang="ro-RO" dirty="0"/>
          </a:p>
          <a:p>
            <a:pPr lvl="1"/>
            <a:r>
              <a:rPr lang="ro-RO" dirty="0"/>
              <a:t>Simplu. Din surse sigure, postate pe site-uri de specialitate. Dar, aici intervine o problem</a:t>
            </a:r>
            <a:r>
              <a:rPr lang="en-US" dirty="0"/>
              <a:t>a:</a:t>
            </a:r>
            <a:r>
              <a:rPr lang="ro-RO" dirty="0"/>
              <a:t> </a:t>
            </a:r>
            <a:endParaRPr lang="en-US" dirty="0"/>
          </a:p>
          <a:p>
            <a:pPr lvl="1"/>
            <a:endParaRPr lang="en-US" dirty="0"/>
          </a:p>
          <a:p>
            <a:pPr lvl="1"/>
            <a:r>
              <a:rPr lang="ro-RO" dirty="0"/>
              <a:t>Pentru Craiova, din p</a:t>
            </a:r>
            <a:r>
              <a:rPr lang="en-US" dirty="0"/>
              <a:t>a</a:t>
            </a:r>
            <a:r>
              <a:rPr lang="ro-RO" dirty="0"/>
              <a:t>cate, date multe </a:t>
            </a:r>
            <a:r>
              <a:rPr lang="en-US" dirty="0"/>
              <a:t>s</a:t>
            </a:r>
            <a:r>
              <a:rPr lang="ro-RO" dirty="0"/>
              <a:t>i corecte puse la aten</a:t>
            </a:r>
            <a:r>
              <a:rPr lang="en-US" dirty="0"/>
              <a:t>t</a:t>
            </a:r>
            <a:r>
              <a:rPr lang="ro-RO" dirty="0"/>
              <a:t>ia publicului larg nu exist</a:t>
            </a:r>
            <a:r>
              <a:rPr lang="en-US" dirty="0"/>
              <a:t>a</a:t>
            </a:r>
            <a:r>
              <a:rPr lang="ro-RO" dirty="0"/>
              <a:t>, dec</a:t>
            </a:r>
            <a:r>
              <a:rPr lang="en-US" dirty="0"/>
              <a:t>a</a:t>
            </a:r>
            <a:r>
              <a:rPr lang="ro-RO" dirty="0"/>
              <a:t>t, </a:t>
            </a:r>
            <a:r>
              <a:rPr lang="en-US" dirty="0" err="1"/>
              <a:t>i</a:t>
            </a:r>
            <a:r>
              <a:rPr lang="ro-RO" dirty="0"/>
              <a:t>n mare parte </a:t>
            </a:r>
            <a:r>
              <a:rPr lang="ro-RO" b="1" dirty="0"/>
              <a:t>pl</a:t>
            </a:r>
            <a:r>
              <a:rPr lang="en-US" b="1" dirty="0"/>
              <a:t>a</a:t>
            </a:r>
            <a:r>
              <a:rPr lang="ro-RO" b="1" dirty="0"/>
              <a:t>tite. </a:t>
            </a:r>
          </a:p>
          <a:p>
            <a:pPr lvl="1"/>
            <a:endParaRPr lang="ro-RO" dirty="0"/>
          </a:p>
        </p:txBody>
      </p:sp>
      <p:pic>
        <p:nvPicPr>
          <p:cNvPr id="5" name="Picture 4" descr="A graph with red lines">
            <a:extLst>
              <a:ext uri="{FF2B5EF4-FFF2-40B4-BE49-F238E27FC236}">
                <a16:creationId xmlns:a16="http://schemas.microsoft.com/office/drawing/2014/main" id="{331FE086-5294-9788-948A-1208C8016DFF}"/>
              </a:ext>
              <a:ext uri="{C183D7F6-B498-43B3-948B-1728B52AA6E4}">
                <adec:decorative xmlns:adec="http://schemas.microsoft.com/office/drawing/2017/decorative" val="0"/>
              </a:ext>
            </a:extLst>
          </p:cNvPr>
          <p:cNvPicPr preferRelativeResize="0">
            <a:picLocks/>
          </p:cNvPicPr>
          <p:nvPr/>
        </p:nvPicPr>
        <p:blipFill>
          <a:blip r:embed="rId2"/>
          <a:stretch>
            <a:fillRect/>
          </a:stretch>
        </p:blipFill>
        <p:spPr>
          <a:xfrm>
            <a:off x="6096000" y="246031"/>
            <a:ext cx="6096000" cy="4050792"/>
          </a:xfrm>
          <a:prstGeom prst="rect">
            <a:avLst/>
          </a:prstGeom>
        </p:spPr>
      </p:pic>
      <p:sp>
        <p:nvSpPr>
          <p:cNvPr id="6" name="TextBox 5">
            <a:extLst>
              <a:ext uri="{FF2B5EF4-FFF2-40B4-BE49-F238E27FC236}">
                <a16:creationId xmlns:a16="http://schemas.microsoft.com/office/drawing/2014/main" id="{3AC2ACA1-2F6E-4420-48ED-8BA13D12C72D}"/>
              </a:ext>
            </a:extLst>
          </p:cNvPr>
          <p:cNvSpPr txBox="1"/>
          <p:nvPr/>
        </p:nvSpPr>
        <p:spPr>
          <a:xfrm>
            <a:off x="0" y="4296823"/>
            <a:ext cx="11871960" cy="1754326"/>
          </a:xfrm>
          <a:prstGeom prst="rect">
            <a:avLst/>
          </a:prstGeom>
          <a:noFill/>
        </p:spPr>
        <p:txBody>
          <a:bodyPr wrap="square" rtlCol="0">
            <a:spAutoFit/>
          </a:bodyPr>
          <a:lstStyle/>
          <a:p>
            <a:pPr lvl="1"/>
            <a:r>
              <a:rPr lang="ro-RO" dirty="0"/>
              <a:t>De aici </a:t>
            </a:r>
            <a:r>
              <a:rPr lang="en-US" dirty="0"/>
              <a:t>s</a:t>
            </a:r>
            <a:r>
              <a:rPr lang="ro-RO" dirty="0"/>
              <a:t>i adev</a:t>
            </a:r>
            <a:r>
              <a:rPr lang="en-US" dirty="0"/>
              <a:t>a</a:t>
            </a:r>
            <a:r>
              <a:rPr lang="ro-RO" dirty="0"/>
              <a:t>rata provocare legat</a:t>
            </a:r>
            <a:r>
              <a:rPr lang="en-US" dirty="0"/>
              <a:t>a</a:t>
            </a:r>
            <a:r>
              <a:rPr lang="ro-RO" dirty="0"/>
              <a:t> de proiectul de fa</a:t>
            </a:r>
            <a:r>
              <a:rPr lang="en-US" dirty="0"/>
              <a:t>ta: </a:t>
            </a:r>
            <a:r>
              <a:rPr lang="en-US" i="1" dirty="0"/>
              <a:t>Ca</a:t>
            </a:r>
            <a:r>
              <a:rPr lang="ro-RO" i="1" dirty="0"/>
              <a:t>utarea </a:t>
            </a:r>
            <a:r>
              <a:rPr lang="en-US" i="1" dirty="0"/>
              <a:t>s</a:t>
            </a:r>
            <a:r>
              <a:rPr lang="ro-RO" i="1" dirty="0"/>
              <a:t>i g</a:t>
            </a:r>
            <a:r>
              <a:rPr lang="en-US" i="1" dirty="0"/>
              <a:t>a</a:t>
            </a:r>
            <a:r>
              <a:rPr lang="ro-RO" i="1" dirty="0"/>
              <a:t>sirea unor date din perioade istorice de mult apuse pentru predic</a:t>
            </a:r>
            <a:r>
              <a:rPr lang="en-US" i="1" dirty="0"/>
              <a:t>t</a:t>
            </a:r>
            <a:r>
              <a:rPr lang="ro-RO" i="1" dirty="0"/>
              <a:t>iile noastre. </a:t>
            </a:r>
          </a:p>
          <a:p>
            <a:pPr lvl="1"/>
            <a:endParaRPr lang="ro-RO" i="1" dirty="0"/>
          </a:p>
          <a:p>
            <a:pPr lvl="1"/>
            <a:r>
              <a:rPr lang="ro-RO" dirty="0"/>
              <a:t>Pentru intervalul 2012 – 2025 site-ul </a:t>
            </a:r>
            <a:r>
              <a:rPr lang="ro-RO" b="1" dirty="0"/>
              <a:t>imobiliare.ro </a:t>
            </a:r>
            <a:r>
              <a:rPr lang="en-US" dirty="0" err="1"/>
              <a:t>pune</a:t>
            </a:r>
            <a:r>
              <a:rPr lang="en-US" dirty="0"/>
              <a:t> la </a:t>
            </a:r>
            <a:r>
              <a:rPr lang="en-US" dirty="0" err="1"/>
              <a:t>dispozit</a:t>
            </a:r>
            <a:r>
              <a:rPr lang="ro-RO" dirty="0"/>
              <a:t>ia oamenilor curio</a:t>
            </a:r>
            <a:r>
              <a:rPr lang="en-US" dirty="0"/>
              <a:t>s</a:t>
            </a:r>
            <a:r>
              <a:rPr lang="ro-RO" dirty="0"/>
              <a:t>i grafice cu pre</a:t>
            </a:r>
            <a:r>
              <a:rPr lang="en-US" dirty="0"/>
              <a:t>t</a:t>
            </a:r>
            <a:r>
              <a:rPr lang="ro-RO" dirty="0"/>
              <a:t>ul pe metrul p</a:t>
            </a:r>
            <a:r>
              <a:rPr lang="en-US" dirty="0"/>
              <a:t>a</a:t>
            </a:r>
            <a:r>
              <a:rPr lang="ro-RO" dirty="0"/>
              <a:t>trat pentru fiecare ora</a:t>
            </a:r>
            <a:r>
              <a:rPr lang="en-US" dirty="0"/>
              <a:t>s</a:t>
            </a:r>
            <a:r>
              <a:rPr lang="ro-RO" dirty="0"/>
              <a:t> mare al </a:t>
            </a:r>
            <a:r>
              <a:rPr lang="en-US" dirty="0"/>
              <a:t>ta</a:t>
            </a:r>
            <a:r>
              <a:rPr lang="ro-RO" dirty="0"/>
              <a:t>rii noastre. Asa c</a:t>
            </a:r>
            <a:r>
              <a:rPr lang="en-US" dirty="0"/>
              <a:t>a</a:t>
            </a:r>
            <a:r>
              <a:rPr lang="ro-RO" dirty="0"/>
              <a:t>, putem s</a:t>
            </a:r>
            <a:r>
              <a:rPr lang="en-US" dirty="0"/>
              <a:t>a</a:t>
            </a:r>
            <a:r>
              <a:rPr lang="ro-RO" dirty="0"/>
              <a:t> tragem o privire atent</a:t>
            </a:r>
            <a:r>
              <a:rPr lang="en-US" dirty="0"/>
              <a:t>a</a:t>
            </a:r>
            <a:r>
              <a:rPr lang="ro-RO" dirty="0"/>
              <a:t> asupra graficului pentru </a:t>
            </a:r>
            <a:r>
              <a:rPr lang="ro-RO" b="1" dirty="0"/>
              <a:t>Craiova</a:t>
            </a:r>
            <a:r>
              <a:rPr lang="en-US" b="1" dirty="0"/>
              <a:t>,</a:t>
            </a:r>
            <a:r>
              <a:rPr lang="en-US" dirty="0"/>
              <a:t> de </a:t>
            </a:r>
            <a:r>
              <a:rPr lang="en-US" dirty="0" err="1"/>
              <a:t>mai</a:t>
            </a:r>
            <a:r>
              <a:rPr lang="en-US" dirty="0"/>
              <a:t> sus. Ulterior, am extras </a:t>
            </a:r>
            <a:r>
              <a:rPr lang="en-US" dirty="0" err="1"/>
              <a:t>datele</a:t>
            </a:r>
            <a:r>
              <a:rPr lang="en-US" dirty="0"/>
              <a:t> cu </a:t>
            </a:r>
            <a:r>
              <a:rPr lang="en-US" dirty="0" err="1"/>
              <a:t>ajutorul</a:t>
            </a:r>
            <a:r>
              <a:rPr lang="en-US" dirty="0"/>
              <a:t> </a:t>
            </a:r>
            <a:r>
              <a:rPr lang="en-US" dirty="0" err="1"/>
              <a:t>unui</a:t>
            </a:r>
            <a:r>
              <a:rPr lang="en-US" dirty="0"/>
              <a:t> </a:t>
            </a:r>
            <a:r>
              <a:rPr lang="en-US" b="1" dirty="0"/>
              <a:t>web scrapper </a:t>
            </a:r>
            <a:r>
              <a:rPr lang="en-US" dirty="0" err="1"/>
              <a:t>scris</a:t>
            </a:r>
            <a:r>
              <a:rPr lang="en-US" dirty="0"/>
              <a:t> in </a:t>
            </a:r>
            <a:r>
              <a:rPr lang="en-US" b="1" dirty="0"/>
              <a:t>Python </a:t>
            </a:r>
            <a:r>
              <a:rPr lang="en-US" dirty="0" err="1"/>
              <a:t>si</a:t>
            </a:r>
            <a:r>
              <a:rPr lang="en-US" dirty="0"/>
              <a:t> le-am </a:t>
            </a:r>
            <a:r>
              <a:rPr lang="en-US" dirty="0" err="1"/>
              <a:t>salvat</a:t>
            </a:r>
            <a:r>
              <a:rPr lang="en-US" dirty="0"/>
              <a:t> sub forma de </a:t>
            </a:r>
            <a:r>
              <a:rPr lang="en-US" dirty="0" err="1"/>
              <a:t>fisier</a:t>
            </a:r>
            <a:r>
              <a:rPr lang="en-US" dirty="0"/>
              <a:t> </a:t>
            </a:r>
            <a:r>
              <a:rPr lang="en-US" b="1" dirty="0"/>
              <a:t>CSV.</a:t>
            </a:r>
            <a:endParaRPr lang="ro-RO" b="1" dirty="0"/>
          </a:p>
        </p:txBody>
      </p:sp>
      <p:sp>
        <p:nvSpPr>
          <p:cNvPr id="7" name="TextBox 6">
            <a:extLst>
              <a:ext uri="{FF2B5EF4-FFF2-40B4-BE49-F238E27FC236}">
                <a16:creationId xmlns:a16="http://schemas.microsoft.com/office/drawing/2014/main" id="{AA81CC83-6B86-8B25-C4F3-2442B13CB2EA}"/>
              </a:ext>
            </a:extLst>
          </p:cNvPr>
          <p:cNvSpPr txBox="1"/>
          <p:nvPr/>
        </p:nvSpPr>
        <p:spPr>
          <a:xfrm>
            <a:off x="493776" y="101602"/>
            <a:ext cx="2487168" cy="646331"/>
          </a:xfrm>
          <a:prstGeom prst="rect">
            <a:avLst/>
          </a:prstGeom>
          <a:noFill/>
        </p:spPr>
        <p:txBody>
          <a:bodyPr wrap="square" rtlCol="0">
            <a:spAutoFit/>
          </a:bodyPr>
          <a:lstStyle/>
          <a:p>
            <a:r>
              <a:rPr lang="en-US" b="1" i="1" dirty="0"/>
              <a:t>4. </a:t>
            </a:r>
            <a:r>
              <a:rPr lang="en-US" b="1" i="1" dirty="0" err="1"/>
              <a:t>Perioada</a:t>
            </a:r>
            <a:r>
              <a:rPr lang="en-US" b="1" i="1" dirty="0"/>
              <a:t> 2012 - 2025</a:t>
            </a:r>
            <a:endParaRPr lang="ro-RO" b="1" i="1" dirty="0"/>
          </a:p>
          <a:p>
            <a:endParaRPr lang="ro-RO" dirty="0"/>
          </a:p>
        </p:txBody>
      </p:sp>
    </p:spTree>
    <p:extLst>
      <p:ext uri="{BB962C8B-B14F-4D97-AF65-F5344CB8AC3E}">
        <p14:creationId xmlns:p14="http://schemas.microsoft.com/office/powerpoint/2010/main" val="4258671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518C08EE-B3A6-2E98-9CA7-ACDF79D45BB3}"/>
              </a:ext>
            </a:extLst>
          </p:cNvPr>
          <p:cNvPicPr>
            <a:picLocks noChangeAspect="1"/>
          </p:cNvPicPr>
          <p:nvPr/>
        </p:nvPicPr>
        <p:blipFill>
          <a:blip r:embed="rId2"/>
          <a:stretch>
            <a:fillRect/>
          </a:stretch>
        </p:blipFill>
        <p:spPr>
          <a:xfrm>
            <a:off x="0" y="0"/>
            <a:ext cx="3739896" cy="3803904"/>
          </a:xfrm>
          <a:prstGeom prst="rect">
            <a:avLst/>
          </a:prstGeom>
        </p:spPr>
      </p:pic>
      <p:sp>
        <p:nvSpPr>
          <p:cNvPr id="2" name="TextBox 1">
            <a:extLst>
              <a:ext uri="{FF2B5EF4-FFF2-40B4-BE49-F238E27FC236}">
                <a16:creationId xmlns:a16="http://schemas.microsoft.com/office/drawing/2014/main" id="{E383E59A-1DDA-DB82-DCEA-6281AE83A75B}"/>
              </a:ext>
            </a:extLst>
          </p:cNvPr>
          <p:cNvSpPr txBox="1"/>
          <p:nvPr/>
        </p:nvSpPr>
        <p:spPr>
          <a:xfrm>
            <a:off x="4902708" y="284193"/>
            <a:ext cx="4288536" cy="369332"/>
          </a:xfrm>
          <a:prstGeom prst="rect">
            <a:avLst/>
          </a:prstGeom>
          <a:noFill/>
        </p:spPr>
        <p:txBody>
          <a:bodyPr wrap="square" rtlCol="0">
            <a:spAutoFit/>
          </a:bodyPr>
          <a:lstStyle/>
          <a:p>
            <a:r>
              <a:rPr lang="en-US" dirty="0" err="1"/>
              <a:t>Impartirea</a:t>
            </a:r>
            <a:r>
              <a:rPr lang="en-US" dirty="0"/>
              <a:t> pe </a:t>
            </a:r>
            <a:r>
              <a:rPr lang="en-US" dirty="0" err="1"/>
              <a:t>foldere</a:t>
            </a:r>
            <a:r>
              <a:rPr lang="en-US" dirty="0"/>
              <a:t> a </a:t>
            </a:r>
            <a:r>
              <a:rPr lang="en-US" dirty="0" err="1"/>
              <a:t>proiectului</a:t>
            </a:r>
            <a:endParaRPr lang="ro-RO" dirty="0"/>
          </a:p>
        </p:txBody>
      </p:sp>
      <p:sp>
        <p:nvSpPr>
          <p:cNvPr id="3" name="Arrow: Down 2">
            <a:extLst>
              <a:ext uri="{FF2B5EF4-FFF2-40B4-BE49-F238E27FC236}">
                <a16:creationId xmlns:a16="http://schemas.microsoft.com/office/drawing/2014/main" id="{63039912-1D25-C3AC-7328-600E10B40074}"/>
              </a:ext>
            </a:extLst>
          </p:cNvPr>
          <p:cNvSpPr/>
          <p:nvPr/>
        </p:nvSpPr>
        <p:spPr>
          <a:xfrm rot="3728624">
            <a:off x="4048456" y="269537"/>
            <a:ext cx="585216" cy="11978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4" name="TextBox 3">
            <a:extLst>
              <a:ext uri="{FF2B5EF4-FFF2-40B4-BE49-F238E27FC236}">
                <a16:creationId xmlns:a16="http://schemas.microsoft.com/office/drawing/2014/main" id="{82C0E2C9-0021-1D3E-2837-904BFCBAA71C}"/>
              </a:ext>
            </a:extLst>
          </p:cNvPr>
          <p:cNvSpPr txBox="1"/>
          <p:nvPr/>
        </p:nvSpPr>
        <p:spPr>
          <a:xfrm>
            <a:off x="4902373" y="983438"/>
            <a:ext cx="6426494" cy="2862322"/>
          </a:xfrm>
          <a:prstGeom prst="rect">
            <a:avLst/>
          </a:prstGeom>
          <a:noFill/>
        </p:spPr>
        <p:txBody>
          <a:bodyPr wrap="square" rtlCol="0">
            <a:spAutoFit/>
          </a:bodyPr>
          <a:lstStyle/>
          <a:p>
            <a:r>
              <a:rPr lang="en-US" dirty="0" err="1"/>
              <a:t>Refacand</a:t>
            </a:r>
            <a:r>
              <a:rPr lang="en-US" dirty="0"/>
              <a:t> </a:t>
            </a:r>
            <a:r>
              <a:rPr lang="en-US" dirty="0" err="1"/>
              <a:t>conexiunea</a:t>
            </a:r>
            <a:r>
              <a:rPr lang="en-US" dirty="0"/>
              <a:t> cu </a:t>
            </a:r>
            <a:r>
              <a:rPr lang="en-US" dirty="0" err="1"/>
              <a:t>graficul</a:t>
            </a:r>
            <a:r>
              <a:rPr lang="en-US" dirty="0"/>
              <a:t> </a:t>
            </a:r>
            <a:r>
              <a:rPr lang="en-US" dirty="0" err="1"/>
              <a:t>pretului</a:t>
            </a:r>
            <a:r>
              <a:rPr lang="en-US" dirty="0"/>
              <a:t> pe </a:t>
            </a:r>
            <a:r>
              <a:rPr lang="en-US" dirty="0" err="1"/>
              <a:t>metrul</a:t>
            </a:r>
            <a:r>
              <a:rPr lang="en-US" dirty="0"/>
              <a:t> </a:t>
            </a:r>
            <a:r>
              <a:rPr lang="en-US" dirty="0" err="1"/>
              <a:t>patrat</a:t>
            </a:r>
            <a:r>
              <a:rPr lang="en-US" dirty="0"/>
              <a:t> al </a:t>
            </a:r>
            <a:r>
              <a:rPr lang="en-US" dirty="0" err="1"/>
              <a:t>apartamentelor</a:t>
            </a:r>
            <a:r>
              <a:rPr lang="en-US" dirty="0"/>
              <a:t>, </a:t>
            </a:r>
            <a:r>
              <a:rPr lang="en-US" b="1" dirty="0" err="1"/>
              <a:t>dupa</a:t>
            </a:r>
            <a:r>
              <a:rPr lang="en-US" b="1" dirty="0"/>
              <a:t> </a:t>
            </a:r>
            <a:r>
              <a:rPr lang="en-US" b="1" dirty="0" err="1"/>
              <a:t>preluarea</a:t>
            </a:r>
            <a:r>
              <a:rPr lang="en-US" dirty="0"/>
              <a:t> </a:t>
            </a:r>
            <a:r>
              <a:rPr lang="en-US" dirty="0" err="1"/>
              <a:t>datelor</a:t>
            </a:r>
            <a:r>
              <a:rPr lang="en-US" dirty="0"/>
              <a:t> in CSV, </a:t>
            </a:r>
            <a:r>
              <a:rPr lang="en-US" dirty="0" err="1"/>
              <a:t>datele</a:t>
            </a:r>
            <a:r>
              <a:rPr lang="en-US" dirty="0"/>
              <a:t> au </a:t>
            </a:r>
            <a:r>
              <a:rPr lang="en-US" dirty="0" err="1"/>
              <a:t>fost</a:t>
            </a:r>
            <a:r>
              <a:rPr lang="en-US" dirty="0"/>
              <a:t> </a:t>
            </a:r>
            <a:r>
              <a:rPr lang="en-US" dirty="0" err="1"/>
              <a:t>si</a:t>
            </a:r>
            <a:r>
              <a:rPr lang="en-US" dirty="0"/>
              <a:t> </a:t>
            </a:r>
            <a:r>
              <a:rPr lang="en-US" b="1" dirty="0" err="1"/>
              <a:t>prelucrate</a:t>
            </a:r>
            <a:r>
              <a:rPr lang="en-US" b="1" dirty="0"/>
              <a:t>.</a:t>
            </a:r>
          </a:p>
          <a:p>
            <a:endParaRPr lang="en-US" i="1" dirty="0"/>
          </a:p>
          <a:p>
            <a:r>
              <a:rPr lang="en-US" i="1" dirty="0"/>
              <a:t>De </a:t>
            </a:r>
            <a:r>
              <a:rPr lang="en-US" i="1" dirty="0" err="1"/>
              <a:t>ce</a:t>
            </a:r>
            <a:r>
              <a:rPr lang="en-US" i="1" dirty="0"/>
              <a:t> am </a:t>
            </a:r>
            <a:r>
              <a:rPr lang="en-US" i="1" dirty="0" err="1"/>
              <a:t>prelucrat</a:t>
            </a:r>
            <a:r>
              <a:rPr lang="en-US" i="1" dirty="0"/>
              <a:t> </a:t>
            </a:r>
            <a:r>
              <a:rPr lang="en-US" i="1" dirty="0" err="1"/>
              <a:t>datele</a:t>
            </a:r>
            <a:r>
              <a:rPr lang="en-US" i="1" dirty="0"/>
              <a:t> </a:t>
            </a:r>
            <a:r>
              <a:rPr lang="en-US" i="1" dirty="0" err="1"/>
              <a:t>daca</a:t>
            </a:r>
            <a:r>
              <a:rPr lang="en-US" i="1" dirty="0"/>
              <a:t> </a:t>
            </a:r>
            <a:r>
              <a:rPr lang="en-US" i="1" dirty="0" err="1"/>
              <a:t>erau</a:t>
            </a:r>
            <a:r>
              <a:rPr lang="en-US" i="1" dirty="0"/>
              <a:t> </a:t>
            </a:r>
            <a:r>
              <a:rPr lang="en-US" i="1" dirty="0" err="1"/>
              <a:t>cele</a:t>
            </a:r>
            <a:r>
              <a:rPr lang="en-US" i="1" dirty="0"/>
              <a:t> </a:t>
            </a:r>
            <a:r>
              <a:rPr lang="en-US" i="1" dirty="0" err="1"/>
              <a:t>reale</a:t>
            </a:r>
            <a:r>
              <a:rPr lang="en-US" i="1" dirty="0"/>
              <a:t>?</a:t>
            </a:r>
          </a:p>
          <a:p>
            <a:endParaRPr lang="en-US" i="1" dirty="0"/>
          </a:p>
          <a:p>
            <a:r>
              <a:rPr lang="en-US" i="1" dirty="0" err="1"/>
              <a:t>Pentru</a:t>
            </a:r>
            <a:r>
              <a:rPr lang="en-US" i="1" dirty="0"/>
              <a:t> ca </a:t>
            </a:r>
            <a:r>
              <a:rPr lang="en-US" i="1" dirty="0" err="1"/>
              <a:t>preturile</a:t>
            </a:r>
            <a:r>
              <a:rPr lang="en-US" i="1" dirty="0"/>
              <a:t> la ora </a:t>
            </a:r>
            <a:r>
              <a:rPr lang="en-US" i="1" dirty="0" err="1"/>
              <a:t>actuala</a:t>
            </a:r>
            <a:r>
              <a:rPr lang="en-US" i="1" dirty="0"/>
              <a:t> sunt calculate in euro </a:t>
            </a:r>
            <a:r>
              <a:rPr lang="en-US" i="1" dirty="0" err="1"/>
              <a:t>si</a:t>
            </a:r>
            <a:r>
              <a:rPr lang="en-US" i="1" dirty="0"/>
              <a:t> le-am </a:t>
            </a:r>
            <a:r>
              <a:rPr lang="en-US" i="1" dirty="0" err="1"/>
              <a:t>convertit</a:t>
            </a:r>
            <a:r>
              <a:rPr lang="en-US" i="1" dirty="0"/>
              <a:t> in RON ca </a:t>
            </a:r>
            <a:r>
              <a:rPr lang="en-US" i="1" dirty="0" err="1"/>
              <a:t>sa</a:t>
            </a:r>
            <a:r>
              <a:rPr lang="en-US" i="1" dirty="0"/>
              <a:t> </a:t>
            </a:r>
            <a:r>
              <a:rPr lang="en-US" i="1" dirty="0" err="1"/>
              <a:t>putem</a:t>
            </a:r>
            <a:r>
              <a:rPr lang="en-US" i="1" dirty="0"/>
              <a:t> </a:t>
            </a:r>
            <a:r>
              <a:rPr lang="en-US" i="1" dirty="0" err="1"/>
              <a:t>lucra</a:t>
            </a:r>
            <a:r>
              <a:rPr lang="en-US" i="1" dirty="0"/>
              <a:t> cat </a:t>
            </a:r>
            <a:r>
              <a:rPr lang="en-US" i="1" dirty="0" err="1"/>
              <a:t>mai</a:t>
            </a:r>
            <a:r>
              <a:rPr lang="en-US" i="1" dirty="0"/>
              <a:t> bine cu </a:t>
            </a:r>
            <a:r>
              <a:rPr lang="en-US" i="1" dirty="0" err="1"/>
              <a:t>ele</a:t>
            </a:r>
            <a:r>
              <a:rPr lang="en-US" i="1" dirty="0"/>
              <a:t>.</a:t>
            </a:r>
          </a:p>
          <a:p>
            <a:endParaRPr lang="en-US" i="1" dirty="0"/>
          </a:p>
          <a:p>
            <a:endParaRPr lang="ro-RO" i="1" dirty="0"/>
          </a:p>
        </p:txBody>
      </p:sp>
      <p:pic>
        <p:nvPicPr>
          <p:cNvPr id="7" name="Picture 6" descr="A screen shot of a computer&#10;&#10;AI-generated content may be incorrect.">
            <a:extLst>
              <a:ext uri="{FF2B5EF4-FFF2-40B4-BE49-F238E27FC236}">
                <a16:creationId xmlns:a16="http://schemas.microsoft.com/office/drawing/2014/main" id="{2F817736-61C2-F17B-BCF9-37DE405CD63F}"/>
              </a:ext>
            </a:extLst>
          </p:cNvPr>
          <p:cNvPicPr>
            <a:picLocks noChangeAspect="1"/>
          </p:cNvPicPr>
          <p:nvPr/>
        </p:nvPicPr>
        <p:blipFill>
          <a:blip r:embed="rId3"/>
          <a:stretch>
            <a:fillRect/>
          </a:stretch>
        </p:blipFill>
        <p:spPr>
          <a:xfrm>
            <a:off x="4478398" y="3536299"/>
            <a:ext cx="3752088" cy="2258568"/>
          </a:xfrm>
          <a:prstGeom prst="rect">
            <a:avLst/>
          </a:prstGeom>
        </p:spPr>
      </p:pic>
      <p:sp>
        <p:nvSpPr>
          <p:cNvPr id="8" name="TextBox 7">
            <a:extLst>
              <a:ext uri="{FF2B5EF4-FFF2-40B4-BE49-F238E27FC236}">
                <a16:creationId xmlns:a16="http://schemas.microsoft.com/office/drawing/2014/main" id="{0C97A65B-A681-B8A7-9631-3DFC2C0853BB}"/>
              </a:ext>
            </a:extLst>
          </p:cNvPr>
          <p:cNvSpPr txBox="1"/>
          <p:nvPr/>
        </p:nvSpPr>
        <p:spPr>
          <a:xfrm>
            <a:off x="8517636" y="3429000"/>
            <a:ext cx="3537204" cy="3693319"/>
          </a:xfrm>
          <a:prstGeom prst="rect">
            <a:avLst/>
          </a:prstGeom>
          <a:noFill/>
        </p:spPr>
        <p:txBody>
          <a:bodyPr wrap="square" rtlCol="0">
            <a:spAutoFit/>
          </a:bodyPr>
          <a:lstStyle/>
          <a:p>
            <a:r>
              <a:rPr lang="en-US" b="1" dirty="0"/>
              <a:t>craiova_index_page.html  </a:t>
            </a:r>
            <a:r>
              <a:rPr lang="en-US" dirty="0"/>
              <a:t>- </a:t>
            </a:r>
            <a:r>
              <a:rPr lang="en-US" dirty="0" err="1"/>
              <a:t>este</a:t>
            </a:r>
            <a:r>
              <a:rPr lang="en-US" dirty="0"/>
              <a:t> </a:t>
            </a:r>
            <a:r>
              <a:rPr lang="en-US" dirty="0" err="1"/>
              <a:t>pagina</a:t>
            </a:r>
            <a:r>
              <a:rPr lang="en-US" dirty="0"/>
              <a:t> HTML </a:t>
            </a:r>
            <a:r>
              <a:rPr lang="en-US" dirty="0" err="1"/>
              <a:t>descarcata</a:t>
            </a:r>
            <a:r>
              <a:rPr lang="en-US" dirty="0"/>
              <a:t> de pe site</a:t>
            </a:r>
          </a:p>
          <a:p>
            <a:r>
              <a:rPr lang="en-US" dirty="0"/>
              <a:t>pe care am </a:t>
            </a:r>
            <a:r>
              <a:rPr lang="en-US" dirty="0" err="1"/>
              <a:t>aplicat</a:t>
            </a:r>
            <a:r>
              <a:rPr lang="en-US" dirty="0"/>
              <a:t> web scrapper-ul </a:t>
            </a:r>
            <a:r>
              <a:rPr lang="en-US" dirty="0" err="1"/>
              <a:t>si</a:t>
            </a:r>
            <a:r>
              <a:rPr lang="en-US" dirty="0"/>
              <a:t> am extras CSV-ul cu </a:t>
            </a:r>
            <a:r>
              <a:rPr lang="en-US" dirty="0" err="1"/>
              <a:t>datele</a:t>
            </a:r>
            <a:r>
              <a:rPr lang="en-US" dirty="0"/>
              <a:t> </a:t>
            </a:r>
            <a:r>
              <a:rPr lang="en-US" dirty="0" err="1"/>
              <a:t>exacte</a:t>
            </a:r>
            <a:endParaRPr lang="en-US" dirty="0"/>
          </a:p>
          <a:p>
            <a:endParaRPr lang="en-US" dirty="0"/>
          </a:p>
          <a:p>
            <a:r>
              <a:rPr lang="en-US" b="1" dirty="0"/>
              <a:t>currency_converter.py </a:t>
            </a:r>
            <a:r>
              <a:rPr lang="en-US" dirty="0"/>
              <a:t>– </a:t>
            </a:r>
            <a:r>
              <a:rPr lang="en-US" dirty="0" err="1"/>
              <a:t>scriptul</a:t>
            </a:r>
            <a:r>
              <a:rPr lang="en-US" dirty="0"/>
              <a:t> cu </a:t>
            </a:r>
            <a:r>
              <a:rPr lang="en-US" dirty="0" err="1"/>
              <a:t>ajutorul</a:t>
            </a:r>
            <a:r>
              <a:rPr lang="en-US" dirty="0"/>
              <a:t> </a:t>
            </a:r>
            <a:r>
              <a:rPr lang="en-US" dirty="0" err="1"/>
              <a:t>caruia</a:t>
            </a:r>
            <a:r>
              <a:rPr lang="en-US" dirty="0"/>
              <a:t> am </a:t>
            </a:r>
            <a:r>
              <a:rPr lang="en-US" dirty="0" err="1"/>
              <a:t>convertit</a:t>
            </a:r>
            <a:r>
              <a:rPr lang="en-US" dirty="0"/>
              <a:t> </a:t>
            </a:r>
            <a:r>
              <a:rPr lang="en-US" dirty="0" err="1"/>
              <a:t>preturile</a:t>
            </a:r>
            <a:r>
              <a:rPr lang="en-US" dirty="0"/>
              <a:t> din EUR in RON, </a:t>
            </a:r>
            <a:r>
              <a:rPr lang="en-US" dirty="0" err="1"/>
              <a:t>avand</a:t>
            </a:r>
            <a:r>
              <a:rPr lang="en-US" dirty="0"/>
              <a:t> </a:t>
            </a:r>
            <a:r>
              <a:rPr lang="en-US" dirty="0" err="1"/>
              <a:t>grija</a:t>
            </a:r>
            <a:r>
              <a:rPr lang="en-US" dirty="0"/>
              <a:t> </a:t>
            </a:r>
            <a:r>
              <a:rPr lang="en-US" dirty="0" err="1"/>
              <a:t>sa</a:t>
            </a:r>
            <a:r>
              <a:rPr lang="en-US" dirty="0"/>
              <a:t> </a:t>
            </a:r>
            <a:r>
              <a:rPr lang="en-US" dirty="0" err="1"/>
              <a:t>pastram</a:t>
            </a:r>
            <a:r>
              <a:rPr lang="en-US" dirty="0"/>
              <a:t> rata de </a:t>
            </a:r>
            <a:r>
              <a:rPr lang="en-US" dirty="0" err="1"/>
              <a:t>conversie</a:t>
            </a:r>
            <a:r>
              <a:rPr lang="en-US" dirty="0"/>
              <a:t> </a:t>
            </a:r>
            <a:r>
              <a:rPr lang="en-US" dirty="0" err="1"/>
              <a:t>anuala</a:t>
            </a:r>
            <a:r>
              <a:rPr lang="en-US" dirty="0"/>
              <a:t>( </a:t>
            </a:r>
            <a:r>
              <a:rPr lang="en-US" dirty="0" err="1"/>
              <a:t>anul</a:t>
            </a:r>
            <a:r>
              <a:rPr lang="en-US" dirty="0"/>
              <a:t> 2012 are o </a:t>
            </a:r>
            <a:r>
              <a:rPr lang="en-US" dirty="0" err="1"/>
              <a:t>alta</a:t>
            </a:r>
            <a:r>
              <a:rPr lang="en-US" dirty="0"/>
              <a:t> rata de </a:t>
            </a:r>
            <a:r>
              <a:rPr lang="en-US" dirty="0" err="1"/>
              <a:t>conversie</a:t>
            </a:r>
            <a:r>
              <a:rPr lang="en-US" dirty="0"/>
              <a:t> fata de 2025 </a:t>
            </a:r>
            <a:r>
              <a:rPr lang="en-US" dirty="0" err="1"/>
              <a:t>spre</a:t>
            </a:r>
            <a:r>
              <a:rPr lang="en-US" dirty="0"/>
              <a:t> </a:t>
            </a:r>
            <a:r>
              <a:rPr lang="en-US" dirty="0" err="1"/>
              <a:t>exemplu</a:t>
            </a:r>
            <a:r>
              <a:rPr lang="en-US" dirty="0"/>
              <a:t>)</a:t>
            </a:r>
          </a:p>
          <a:p>
            <a:endParaRPr lang="ro-RO" dirty="0"/>
          </a:p>
        </p:txBody>
      </p:sp>
      <p:pic>
        <p:nvPicPr>
          <p:cNvPr id="13" name="Picture 12" descr="A screen shot of a computer&#10;&#10;AI-generated content may be incorrect.">
            <a:extLst>
              <a:ext uri="{FF2B5EF4-FFF2-40B4-BE49-F238E27FC236}">
                <a16:creationId xmlns:a16="http://schemas.microsoft.com/office/drawing/2014/main" id="{A2E45D9B-D06B-7EB5-AA15-233D0F7B4F84}"/>
              </a:ext>
            </a:extLst>
          </p:cNvPr>
          <p:cNvPicPr>
            <a:picLocks noChangeAspect="1"/>
          </p:cNvPicPr>
          <p:nvPr/>
        </p:nvPicPr>
        <p:blipFill>
          <a:blip r:embed="rId4"/>
          <a:stretch>
            <a:fillRect/>
          </a:stretch>
        </p:blipFill>
        <p:spPr>
          <a:xfrm>
            <a:off x="899352" y="3925455"/>
            <a:ext cx="3062164" cy="2876226"/>
          </a:xfrm>
          <a:prstGeom prst="rect">
            <a:avLst/>
          </a:prstGeom>
        </p:spPr>
      </p:pic>
      <p:pic>
        <p:nvPicPr>
          <p:cNvPr id="14" name="Picture 13">
            <a:extLst>
              <a:ext uri="{FF2B5EF4-FFF2-40B4-BE49-F238E27FC236}">
                <a16:creationId xmlns:a16="http://schemas.microsoft.com/office/drawing/2014/main" id="{2708B170-75D6-BDA5-999B-28054F9B8019}"/>
              </a:ext>
            </a:extLst>
          </p:cNvPr>
          <p:cNvPicPr>
            <a:picLocks noChangeAspect="1"/>
          </p:cNvPicPr>
          <p:nvPr/>
        </p:nvPicPr>
        <p:blipFill>
          <a:blip r:embed="rId5"/>
          <a:stretch>
            <a:fillRect/>
          </a:stretch>
        </p:blipFill>
        <p:spPr>
          <a:xfrm rot="1578949">
            <a:off x="5632207" y="5620945"/>
            <a:ext cx="1876439" cy="1363310"/>
          </a:xfrm>
          <a:prstGeom prst="rect">
            <a:avLst/>
          </a:prstGeom>
        </p:spPr>
      </p:pic>
    </p:spTree>
    <p:extLst>
      <p:ext uri="{BB962C8B-B14F-4D97-AF65-F5344CB8AC3E}">
        <p14:creationId xmlns:p14="http://schemas.microsoft.com/office/powerpoint/2010/main" val="3508590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C1C6D2-5669-08E7-557C-4A38B1A10ADF}"/>
              </a:ext>
            </a:extLst>
          </p:cNvPr>
          <p:cNvSpPr txBox="1"/>
          <p:nvPr/>
        </p:nvSpPr>
        <p:spPr>
          <a:xfrm>
            <a:off x="621792" y="261610"/>
            <a:ext cx="3419856" cy="400110"/>
          </a:xfrm>
          <a:prstGeom prst="rect">
            <a:avLst/>
          </a:prstGeom>
          <a:noFill/>
        </p:spPr>
        <p:txBody>
          <a:bodyPr wrap="square" rtlCol="0">
            <a:spAutoFit/>
          </a:bodyPr>
          <a:lstStyle/>
          <a:p>
            <a:r>
              <a:rPr lang="en-US" sz="2000" b="1" i="1" dirty="0"/>
              <a:t>5. </a:t>
            </a:r>
            <a:r>
              <a:rPr lang="en-US" sz="2000" b="1" i="1" dirty="0" err="1"/>
              <a:t>Perioada</a:t>
            </a:r>
            <a:r>
              <a:rPr lang="en-US" sz="2000" b="1" i="1" dirty="0"/>
              <a:t> 1900 - 2011</a:t>
            </a:r>
            <a:endParaRPr lang="ro-RO" sz="2000" b="1" i="1" dirty="0"/>
          </a:p>
        </p:txBody>
      </p:sp>
      <p:pic>
        <p:nvPicPr>
          <p:cNvPr id="4" name="Picture 3" descr="A screenshot of a computer&#10;&#10;AI-generated content may be incorrect.">
            <a:extLst>
              <a:ext uri="{FF2B5EF4-FFF2-40B4-BE49-F238E27FC236}">
                <a16:creationId xmlns:a16="http://schemas.microsoft.com/office/drawing/2014/main" id="{C9E94566-613D-15B0-E9A6-7FAB4C496374}"/>
              </a:ext>
            </a:extLst>
          </p:cNvPr>
          <p:cNvPicPr>
            <a:picLocks noChangeAspect="1"/>
          </p:cNvPicPr>
          <p:nvPr/>
        </p:nvPicPr>
        <p:blipFill>
          <a:blip r:embed="rId2"/>
          <a:stretch>
            <a:fillRect/>
          </a:stretch>
        </p:blipFill>
        <p:spPr>
          <a:xfrm>
            <a:off x="7982712" y="1"/>
            <a:ext cx="4209288" cy="6858000"/>
          </a:xfrm>
          <a:prstGeom prst="rect">
            <a:avLst/>
          </a:prstGeom>
        </p:spPr>
      </p:pic>
      <p:sp>
        <p:nvSpPr>
          <p:cNvPr id="5" name="TextBox 4">
            <a:extLst>
              <a:ext uri="{FF2B5EF4-FFF2-40B4-BE49-F238E27FC236}">
                <a16:creationId xmlns:a16="http://schemas.microsoft.com/office/drawing/2014/main" id="{B886545E-CC44-A319-DC4A-528A4D3C7A8A}"/>
              </a:ext>
            </a:extLst>
          </p:cNvPr>
          <p:cNvSpPr txBox="1"/>
          <p:nvPr/>
        </p:nvSpPr>
        <p:spPr>
          <a:xfrm>
            <a:off x="3662172" y="270583"/>
            <a:ext cx="4370832" cy="923330"/>
          </a:xfrm>
          <a:prstGeom prst="rect">
            <a:avLst/>
          </a:prstGeom>
          <a:noFill/>
        </p:spPr>
        <p:txBody>
          <a:bodyPr wrap="square" rtlCol="0">
            <a:spAutoFit/>
          </a:bodyPr>
          <a:lstStyle/>
          <a:p>
            <a:r>
              <a:rPr lang="en-US" dirty="0" err="1"/>
              <a:t>Pentru</a:t>
            </a:r>
            <a:r>
              <a:rPr lang="en-US" dirty="0"/>
              <a:t> </a:t>
            </a:r>
            <a:r>
              <a:rPr lang="en-US" dirty="0" err="1"/>
              <a:t>aceasta</a:t>
            </a:r>
            <a:r>
              <a:rPr lang="en-US" dirty="0"/>
              <a:t> </a:t>
            </a:r>
            <a:r>
              <a:rPr lang="en-US" dirty="0" err="1"/>
              <a:t>perioada</a:t>
            </a:r>
            <a:r>
              <a:rPr lang="en-US" dirty="0"/>
              <a:t> nu </a:t>
            </a:r>
            <a:r>
              <a:rPr lang="en-US" dirty="0" err="1"/>
              <a:t>exista</a:t>
            </a:r>
            <a:r>
              <a:rPr lang="en-US" dirty="0"/>
              <a:t> date </a:t>
            </a:r>
            <a:r>
              <a:rPr lang="en-US" dirty="0" err="1"/>
              <a:t>oficiale</a:t>
            </a:r>
            <a:r>
              <a:rPr lang="en-US" dirty="0"/>
              <a:t>, </a:t>
            </a:r>
            <a:r>
              <a:rPr lang="en-US" dirty="0" err="1"/>
              <a:t>mai</a:t>
            </a:r>
            <a:r>
              <a:rPr lang="en-US" dirty="0"/>
              <a:t> ales </a:t>
            </a:r>
            <a:r>
              <a:rPr lang="en-US" dirty="0" err="1"/>
              <a:t>fiind</a:t>
            </a:r>
            <a:r>
              <a:rPr lang="en-US" dirty="0"/>
              <a:t> </a:t>
            </a:r>
            <a:r>
              <a:rPr lang="en-US" dirty="0" err="1"/>
              <a:t>aproape</a:t>
            </a:r>
            <a:r>
              <a:rPr lang="en-US" dirty="0"/>
              <a:t> </a:t>
            </a:r>
            <a:r>
              <a:rPr lang="en-US" dirty="0" err="1"/>
              <a:t>imposibil</a:t>
            </a:r>
            <a:r>
              <a:rPr lang="en-US" dirty="0"/>
              <a:t> </a:t>
            </a:r>
            <a:r>
              <a:rPr lang="en-US" dirty="0" err="1"/>
              <a:t>sa</a:t>
            </a:r>
            <a:r>
              <a:rPr lang="en-US" dirty="0"/>
              <a:t> se </a:t>
            </a:r>
            <a:r>
              <a:rPr lang="en-US" dirty="0" err="1"/>
              <a:t>fii</a:t>
            </a:r>
            <a:r>
              <a:rPr lang="en-US" dirty="0"/>
              <a:t> </a:t>
            </a:r>
            <a:r>
              <a:rPr lang="en-US" dirty="0" err="1"/>
              <a:t>tinut</a:t>
            </a:r>
            <a:r>
              <a:rPr lang="en-US" dirty="0"/>
              <a:t> </a:t>
            </a:r>
            <a:r>
              <a:rPr lang="en-US" dirty="0" err="1"/>
              <a:t>oficial</a:t>
            </a:r>
            <a:r>
              <a:rPr lang="en-US" dirty="0"/>
              <a:t> </a:t>
            </a:r>
            <a:r>
              <a:rPr lang="en-US" dirty="0" err="1"/>
              <a:t>evidenta</a:t>
            </a:r>
            <a:r>
              <a:rPr lang="en-US" dirty="0"/>
              <a:t> </a:t>
            </a:r>
            <a:r>
              <a:rPr lang="en-US" dirty="0" err="1"/>
              <a:t>inainte</a:t>
            </a:r>
            <a:r>
              <a:rPr lang="en-US" dirty="0"/>
              <a:t> de 2000.</a:t>
            </a:r>
            <a:endParaRPr lang="ro-RO" dirty="0"/>
          </a:p>
        </p:txBody>
      </p:sp>
      <p:sp>
        <p:nvSpPr>
          <p:cNvPr id="6" name="TextBox 5">
            <a:extLst>
              <a:ext uri="{FF2B5EF4-FFF2-40B4-BE49-F238E27FC236}">
                <a16:creationId xmlns:a16="http://schemas.microsoft.com/office/drawing/2014/main" id="{91227FB2-2C68-C7D2-3A1C-6703F4C74BA6}"/>
              </a:ext>
            </a:extLst>
          </p:cNvPr>
          <p:cNvSpPr txBox="1"/>
          <p:nvPr/>
        </p:nvSpPr>
        <p:spPr>
          <a:xfrm>
            <a:off x="512064" y="1489857"/>
            <a:ext cx="7470648" cy="5262979"/>
          </a:xfrm>
          <a:prstGeom prst="rect">
            <a:avLst/>
          </a:prstGeom>
          <a:noFill/>
        </p:spPr>
        <p:txBody>
          <a:bodyPr wrap="square" rtlCol="0">
            <a:spAutoFit/>
          </a:bodyPr>
          <a:lstStyle/>
          <a:p>
            <a:r>
              <a:rPr lang="en-US" sz="1600" dirty="0" err="1"/>
              <a:t>Totusi</a:t>
            </a:r>
            <a:r>
              <a:rPr lang="en-US" sz="1600" dirty="0"/>
              <a:t>, </a:t>
            </a:r>
            <a:r>
              <a:rPr lang="en-US" sz="1600" dirty="0" err="1"/>
              <a:t>daca</a:t>
            </a:r>
            <a:r>
              <a:rPr lang="en-US" sz="1600" dirty="0"/>
              <a:t> nu am </a:t>
            </a:r>
            <a:r>
              <a:rPr lang="en-US" sz="1600" dirty="0" err="1"/>
              <a:t>gasit</a:t>
            </a:r>
            <a:r>
              <a:rPr lang="en-US" sz="1600" dirty="0"/>
              <a:t> date, </a:t>
            </a:r>
            <a:r>
              <a:rPr lang="en-US" sz="1600" dirty="0" err="1"/>
              <a:t>asta</a:t>
            </a:r>
            <a:r>
              <a:rPr lang="en-US" sz="1600" dirty="0"/>
              <a:t> nu </a:t>
            </a:r>
            <a:r>
              <a:rPr lang="en-US" sz="1600" dirty="0" err="1"/>
              <a:t>inseamna</a:t>
            </a:r>
            <a:r>
              <a:rPr lang="en-US" sz="1600" dirty="0"/>
              <a:t> ca </a:t>
            </a:r>
            <a:r>
              <a:rPr lang="en-US" sz="1600" dirty="0" err="1"/>
              <a:t>studiul</a:t>
            </a:r>
            <a:r>
              <a:rPr lang="en-US" sz="1600" dirty="0"/>
              <a:t> se </a:t>
            </a:r>
            <a:r>
              <a:rPr lang="en-US" sz="1600" dirty="0" err="1"/>
              <a:t>incheie</a:t>
            </a:r>
            <a:r>
              <a:rPr lang="en-US" sz="1600" dirty="0"/>
              <a:t>. </a:t>
            </a:r>
            <a:r>
              <a:rPr lang="en-US" sz="1600" dirty="0" err="1"/>
              <a:t>DataScience</a:t>
            </a:r>
            <a:r>
              <a:rPr lang="en-US" sz="1600" dirty="0"/>
              <a:t>-ul </a:t>
            </a:r>
            <a:r>
              <a:rPr lang="en-US" sz="1600" dirty="0" err="1"/>
              <a:t>inseamna</a:t>
            </a:r>
            <a:r>
              <a:rPr lang="en-US" sz="1600" dirty="0"/>
              <a:t> </a:t>
            </a:r>
            <a:r>
              <a:rPr lang="en-US" sz="1600" dirty="0" err="1"/>
              <a:t>adaptabilitate</a:t>
            </a:r>
            <a:r>
              <a:rPr lang="en-US" sz="1600" dirty="0"/>
              <a:t>, </a:t>
            </a:r>
            <a:r>
              <a:rPr lang="en-US" sz="1600" dirty="0" err="1"/>
              <a:t>asa</a:t>
            </a:r>
            <a:r>
              <a:rPr lang="en-US" sz="1600" dirty="0"/>
              <a:t> ca </a:t>
            </a:r>
            <a:r>
              <a:rPr lang="en-US" sz="1600" dirty="0" err="1"/>
              <a:t>urmatoarul</a:t>
            </a:r>
            <a:r>
              <a:rPr lang="en-US" sz="1600" dirty="0"/>
              <a:t> pas a </a:t>
            </a:r>
            <a:r>
              <a:rPr lang="en-US" sz="1600" dirty="0" err="1"/>
              <a:t>fost</a:t>
            </a:r>
            <a:r>
              <a:rPr lang="en-US" sz="1600" dirty="0"/>
              <a:t> </a:t>
            </a:r>
            <a:r>
              <a:rPr lang="en-US" sz="1600" dirty="0" err="1"/>
              <a:t>sa</a:t>
            </a:r>
            <a:r>
              <a:rPr lang="en-US" sz="1600" dirty="0"/>
              <a:t> </a:t>
            </a:r>
            <a:r>
              <a:rPr lang="en-US" sz="1600" dirty="0" err="1"/>
              <a:t>generez</a:t>
            </a:r>
            <a:r>
              <a:rPr lang="en-US" sz="1600" dirty="0"/>
              <a:t> </a:t>
            </a:r>
            <a:r>
              <a:rPr lang="en-US" sz="1600" dirty="0" err="1"/>
              <a:t>datele</a:t>
            </a:r>
            <a:r>
              <a:rPr lang="en-US" sz="1600" dirty="0"/>
              <a:t>. Cum? Cu </a:t>
            </a:r>
            <a:r>
              <a:rPr lang="en-US" sz="1600" dirty="0" err="1"/>
              <a:t>ajutorul</a:t>
            </a:r>
            <a:r>
              <a:rPr lang="en-US" sz="1600" dirty="0"/>
              <a:t> a 8 </a:t>
            </a:r>
            <a:r>
              <a:rPr lang="en-US" sz="1600" dirty="0" err="1"/>
              <a:t>generari</a:t>
            </a:r>
            <a:r>
              <a:rPr lang="en-US" sz="1600" dirty="0"/>
              <a:t> (</a:t>
            </a:r>
            <a:r>
              <a:rPr lang="en-US" sz="1600" dirty="0" err="1"/>
              <a:t>incercari</a:t>
            </a:r>
            <a:r>
              <a:rPr lang="en-US" sz="1600" dirty="0"/>
              <a:t>) pe care am </a:t>
            </a:r>
            <a:r>
              <a:rPr lang="en-US" sz="1600" dirty="0" err="1"/>
              <a:t>sa</a:t>
            </a:r>
            <a:r>
              <a:rPr lang="en-US" sz="1600" dirty="0"/>
              <a:t> le </a:t>
            </a:r>
            <a:r>
              <a:rPr lang="en-US" sz="1600" dirty="0" err="1"/>
              <a:t>prezint</a:t>
            </a:r>
            <a:r>
              <a:rPr lang="en-US" sz="1600" dirty="0"/>
              <a:t> pe rand (de la </a:t>
            </a:r>
            <a:r>
              <a:rPr lang="en-US" sz="1600" dirty="0" err="1"/>
              <a:t>datele</a:t>
            </a:r>
            <a:r>
              <a:rPr lang="en-US" sz="1600" dirty="0"/>
              <a:t> din </a:t>
            </a:r>
            <a:r>
              <a:rPr lang="en-US" sz="1600" dirty="0" err="1"/>
              <a:t>prezent</a:t>
            </a:r>
            <a:r>
              <a:rPr lang="en-US" sz="1600" dirty="0"/>
              <a:t> </a:t>
            </a:r>
            <a:r>
              <a:rPr lang="en-US" sz="1600" dirty="0" err="1"/>
              <a:t>sa</a:t>
            </a:r>
            <a:r>
              <a:rPr lang="en-US" sz="1600" dirty="0"/>
              <a:t> </a:t>
            </a:r>
            <a:r>
              <a:rPr lang="en-US" sz="1600" dirty="0" err="1"/>
              <a:t>ajungem</a:t>
            </a:r>
            <a:r>
              <a:rPr lang="en-US" sz="1600" dirty="0"/>
              <a:t> la </a:t>
            </a:r>
            <a:r>
              <a:rPr lang="en-US" sz="1600" dirty="0" err="1"/>
              <a:t>datele</a:t>
            </a:r>
            <a:r>
              <a:rPr lang="en-US" sz="1600" dirty="0"/>
              <a:t> din </a:t>
            </a:r>
            <a:r>
              <a:rPr lang="en-US" sz="1600" dirty="0" err="1"/>
              <a:t>trecut</a:t>
            </a:r>
            <a:r>
              <a:rPr lang="en-US" sz="1600" dirty="0"/>
              <a:t>):</a:t>
            </a:r>
          </a:p>
          <a:p>
            <a:endParaRPr lang="en-US" sz="1600" dirty="0"/>
          </a:p>
          <a:p>
            <a:r>
              <a:rPr lang="en-US" sz="1600" b="1" dirty="0"/>
              <a:t>Gen 1</a:t>
            </a:r>
            <a:r>
              <a:rPr lang="en-US" sz="1600" dirty="0"/>
              <a:t> - </a:t>
            </a:r>
            <a:r>
              <a:rPr lang="en-US" sz="1600" dirty="0" err="1"/>
              <a:t>bazata</a:t>
            </a:r>
            <a:r>
              <a:rPr lang="en-US" sz="1600" dirty="0"/>
              <a:t> pe </a:t>
            </a:r>
            <a:r>
              <a:rPr lang="en-US" sz="1600" b="1" dirty="0" err="1"/>
              <a:t>formule</a:t>
            </a:r>
            <a:r>
              <a:rPr lang="en-US" sz="1600" b="1" dirty="0"/>
              <a:t> derivate din </a:t>
            </a:r>
            <a:r>
              <a:rPr lang="en-US" sz="1600" b="1" dirty="0" err="1"/>
              <a:t>perioade</a:t>
            </a:r>
            <a:r>
              <a:rPr lang="en-US" sz="1600" b="1" dirty="0"/>
              <a:t> </a:t>
            </a:r>
            <a:r>
              <a:rPr lang="en-US" sz="1600" b="1" dirty="0" err="1"/>
              <a:t>istorice</a:t>
            </a:r>
            <a:r>
              <a:rPr lang="en-US" sz="1600" b="1" dirty="0"/>
              <a:t> </a:t>
            </a:r>
            <a:r>
              <a:rPr lang="en-US" sz="1600" b="1" dirty="0" err="1"/>
              <a:t>impactante</a:t>
            </a:r>
            <a:r>
              <a:rPr lang="en-US" sz="1600" dirty="0"/>
              <a:t>(WW1, WW2, etc.)</a:t>
            </a:r>
          </a:p>
          <a:p>
            <a:r>
              <a:rPr lang="en-US" sz="1600" b="1" dirty="0"/>
              <a:t>Gen 2 - </a:t>
            </a:r>
            <a:r>
              <a:rPr lang="en-US" sz="1600" dirty="0"/>
              <a:t>“</a:t>
            </a:r>
            <a:r>
              <a:rPr lang="en-US" sz="1600" dirty="0" err="1"/>
              <a:t>backcasting</a:t>
            </a:r>
            <a:r>
              <a:rPr lang="en-US" sz="1600" dirty="0"/>
              <a:t>” </a:t>
            </a:r>
            <a:r>
              <a:rPr lang="en-US" sz="1600" dirty="0" err="1"/>
              <a:t>bazat</a:t>
            </a:r>
            <a:r>
              <a:rPr lang="en-US" sz="1600" dirty="0"/>
              <a:t> pe </a:t>
            </a:r>
            <a:r>
              <a:rPr lang="en-US" sz="1600" b="1" dirty="0"/>
              <a:t>State Space model</a:t>
            </a:r>
            <a:r>
              <a:rPr lang="en-US" sz="1600" dirty="0"/>
              <a:t>, </a:t>
            </a:r>
            <a:r>
              <a:rPr lang="en-US" sz="1600" dirty="0" err="1"/>
              <a:t>practic</a:t>
            </a:r>
            <a:r>
              <a:rPr lang="en-US" sz="1600" dirty="0"/>
              <a:t> o </a:t>
            </a:r>
            <a:r>
              <a:rPr lang="en-US" sz="1600" dirty="0" err="1"/>
              <a:t>predictie</a:t>
            </a:r>
            <a:r>
              <a:rPr lang="en-US" sz="1600" dirty="0"/>
              <a:t> </a:t>
            </a:r>
            <a:r>
              <a:rPr lang="en-US" sz="1600" dirty="0" err="1"/>
              <a:t>inversa</a:t>
            </a:r>
            <a:r>
              <a:rPr lang="en-US" sz="1600" dirty="0"/>
              <a:t>;</a:t>
            </a:r>
          </a:p>
          <a:p>
            <a:r>
              <a:rPr lang="en-US" sz="1600" b="1" dirty="0"/>
              <a:t>Gen 3 - </a:t>
            </a:r>
            <a:r>
              <a:rPr lang="en-US" sz="1600" dirty="0"/>
              <a:t>“</a:t>
            </a:r>
            <a:r>
              <a:rPr lang="en-US" sz="1600" dirty="0" err="1"/>
              <a:t>backcasting</a:t>
            </a:r>
            <a:r>
              <a:rPr lang="en-US" sz="1600" dirty="0"/>
              <a:t>” </a:t>
            </a:r>
            <a:r>
              <a:rPr lang="en-US" sz="1600" dirty="0" err="1"/>
              <a:t>bazat</a:t>
            </a:r>
            <a:r>
              <a:rPr lang="en-US" sz="1600" dirty="0"/>
              <a:t> pe </a:t>
            </a:r>
            <a:r>
              <a:rPr lang="en-US" sz="1600" dirty="0" err="1"/>
              <a:t>modelul</a:t>
            </a:r>
            <a:r>
              <a:rPr lang="en-US" sz="1600" dirty="0"/>
              <a:t> </a:t>
            </a:r>
            <a:r>
              <a:rPr lang="en-US" sz="1600" dirty="0" err="1"/>
              <a:t>matematic</a:t>
            </a:r>
            <a:r>
              <a:rPr lang="en-US" sz="1600" dirty="0"/>
              <a:t> al </a:t>
            </a:r>
            <a:r>
              <a:rPr lang="en-US" sz="1600" b="1" dirty="0"/>
              <a:t>Spline-ului;</a:t>
            </a:r>
          </a:p>
          <a:p>
            <a:r>
              <a:rPr lang="en-US" sz="1600" b="1" dirty="0"/>
              <a:t>Gen 4 - </a:t>
            </a:r>
            <a:r>
              <a:rPr lang="en-US" sz="1600" dirty="0"/>
              <a:t>“</a:t>
            </a:r>
            <a:r>
              <a:rPr lang="en-US" sz="1600" dirty="0" err="1"/>
              <a:t>backcasting</a:t>
            </a:r>
            <a:r>
              <a:rPr lang="en-US" sz="1600" dirty="0"/>
              <a:t>” </a:t>
            </a:r>
            <a:r>
              <a:rPr lang="en-US" sz="1600" dirty="0" err="1"/>
              <a:t>bazat</a:t>
            </a:r>
            <a:r>
              <a:rPr lang="en-US" sz="1600" dirty="0"/>
              <a:t> pe </a:t>
            </a:r>
            <a:r>
              <a:rPr lang="en-US" sz="1600" dirty="0" err="1"/>
              <a:t>modelul</a:t>
            </a:r>
            <a:r>
              <a:rPr lang="en-US" sz="1600" dirty="0"/>
              <a:t> </a:t>
            </a:r>
            <a:r>
              <a:rPr lang="en-US" sz="1600" b="1" dirty="0"/>
              <a:t>State Space Logistic</a:t>
            </a:r>
            <a:r>
              <a:rPr lang="en-US" sz="1600" dirty="0"/>
              <a:t>;</a:t>
            </a:r>
          </a:p>
          <a:p>
            <a:r>
              <a:rPr lang="en-US" sz="1600" b="1" dirty="0"/>
              <a:t>Gen 5 - </a:t>
            </a:r>
            <a:r>
              <a:rPr lang="en-US" sz="1600" dirty="0"/>
              <a:t>“</a:t>
            </a:r>
            <a:r>
              <a:rPr lang="en-US" sz="1600" dirty="0" err="1"/>
              <a:t>backcasting</a:t>
            </a:r>
            <a:r>
              <a:rPr lang="en-US" sz="1600" dirty="0"/>
              <a:t>” </a:t>
            </a:r>
            <a:r>
              <a:rPr lang="en-US" sz="1600" dirty="0" err="1"/>
              <a:t>bazat</a:t>
            </a:r>
            <a:r>
              <a:rPr lang="en-US" sz="1600" dirty="0"/>
              <a:t> pe </a:t>
            </a:r>
            <a:r>
              <a:rPr lang="en-US" sz="1600" dirty="0" err="1"/>
              <a:t>modelul</a:t>
            </a:r>
            <a:r>
              <a:rPr lang="en-US" sz="1600" dirty="0"/>
              <a:t> </a:t>
            </a:r>
            <a:r>
              <a:rPr lang="en-US" sz="1600" b="1" dirty="0"/>
              <a:t>Norm State Space Logistic ;</a:t>
            </a:r>
          </a:p>
          <a:p>
            <a:r>
              <a:rPr lang="en-US" sz="1600" b="1" dirty="0"/>
              <a:t>Gen 6 -  </a:t>
            </a:r>
            <a:r>
              <a:rPr lang="en-US" sz="1600" dirty="0" err="1"/>
              <a:t>bazata</a:t>
            </a:r>
            <a:r>
              <a:rPr lang="en-US" sz="1600" dirty="0"/>
              <a:t> pe </a:t>
            </a:r>
            <a:r>
              <a:rPr lang="en-US" sz="1600" b="1" dirty="0" err="1"/>
              <a:t>formule</a:t>
            </a:r>
            <a:r>
              <a:rPr lang="en-US" sz="1600" b="1" dirty="0"/>
              <a:t> derivate din </a:t>
            </a:r>
            <a:r>
              <a:rPr lang="en-US" sz="1600" b="1" dirty="0" err="1"/>
              <a:t>perioade</a:t>
            </a:r>
            <a:r>
              <a:rPr lang="en-US" sz="1600" b="1" dirty="0"/>
              <a:t> </a:t>
            </a:r>
            <a:r>
              <a:rPr lang="en-US" sz="1600" b="1" dirty="0" err="1"/>
              <a:t>istorice</a:t>
            </a:r>
            <a:r>
              <a:rPr lang="en-US" sz="1600" b="1" dirty="0"/>
              <a:t> </a:t>
            </a:r>
            <a:r>
              <a:rPr lang="en-US" sz="1600" b="1" dirty="0" err="1"/>
              <a:t>impactante</a:t>
            </a:r>
            <a:r>
              <a:rPr lang="en-US" sz="1600" dirty="0"/>
              <a:t>(WW1, WW2, etc.)</a:t>
            </a:r>
          </a:p>
          <a:p>
            <a:r>
              <a:rPr lang="en-US" sz="1600" b="1" dirty="0"/>
              <a:t>Gen 7 - </a:t>
            </a:r>
            <a:r>
              <a:rPr lang="en-US" sz="1600" dirty="0" err="1"/>
              <a:t>bazata</a:t>
            </a:r>
            <a:r>
              <a:rPr lang="en-US" sz="1600" dirty="0"/>
              <a:t> pe </a:t>
            </a:r>
            <a:r>
              <a:rPr lang="en-US" sz="1600" b="1" dirty="0" err="1"/>
              <a:t>formule</a:t>
            </a:r>
            <a:r>
              <a:rPr lang="en-US" sz="1600" b="1" dirty="0"/>
              <a:t> derivate din </a:t>
            </a:r>
            <a:r>
              <a:rPr lang="en-US" sz="1600" b="1" dirty="0" err="1"/>
              <a:t>perioade</a:t>
            </a:r>
            <a:r>
              <a:rPr lang="en-US" sz="1600" b="1" dirty="0"/>
              <a:t> </a:t>
            </a:r>
            <a:r>
              <a:rPr lang="en-US" sz="1600" b="1" dirty="0" err="1"/>
              <a:t>istorice</a:t>
            </a:r>
            <a:r>
              <a:rPr lang="en-US" sz="1600" b="1" dirty="0"/>
              <a:t> </a:t>
            </a:r>
            <a:r>
              <a:rPr lang="en-US" sz="1600" b="1" dirty="0" err="1"/>
              <a:t>impactante</a:t>
            </a:r>
            <a:r>
              <a:rPr lang="en-US" sz="1600" dirty="0"/>
              <a:t>(WW1, WW2, etc.)</a:t>
            </a:r>
          </a:p>
          <a:p>
            <a:r>
              <a:rPr lang="en-US" sz="1600" b="1" dirty="0"/>
              <a:t>Gen 8 - </a:t>
            </a:r>
            <a:r>
              <a:rPr lang="en-US" sz="1600" dirty="0" err="1"/>
              <a:t>bazata</a:t>
            </a:r>
            <a:r>
              <a:rPr lang="en-US" sz="1600" dirty="0"/>
              <a:t> pe </a:t>
            </a:r>
            <a:r>
              <a:rPr lang="en-US" sz="1600" b="1" dirty="0" err="1"/>
              <a:t>formule</a:t>
            </a:r>
            <a:r>
              <a:rPr lang="en-US" sz="1600" b="1" dirty="0"/>
              <a:t> derivate din </a:t>
            </a:r>
            <a:r>
              <a:rPr lang="en-US" sz="1600" b="1" dirty="0" err="1"/>
              <a:t>perioade</a:t>
            </a:r>
            <a:r>
              <a:rPr lang="en-US" sz="1600" b="1" dirty="0"/>
              <a:t> </a:t>
            </a:r>
            <a:r>
              <a:rPr lang="en-US" sz="1600" b="1" dirty="0" err="1"/>
              <a:t>istorice</a:t>
            </a:r>
            <a:r>
              <a:rPr lang="en-US" sz="1600" b="1" dirty="0"/>
              <a:t> </a:t>
            </a:r>
            <a:r>
              <a:rPr lang="en-US" sz="1600" b="1" dirty="0" err="1"/>
              <a:t>impactante</a:t>
            </a:r>
            <a:r>
              <a:rPr lang="en-US" sz="1600" dirty="0"/>
              <a:t>(WW1, WW2, etc.)</a:t>
            </a:r>
          </a:p>
          <a:p>
            <a:endParaRPr lang="en-US" sz="1600" b="1" dirty="0"/>
          </a:p>
          <a:p>
            <a:r>
              <a:rPr lang="en-US" sz="1400" b="1" dirty="0"/>
              <a:t>Gen 1, Gen 6, Gen 7 </a:t>
            </a:r>
            <a:r>
              <a:rPr lang="en-US" sz="1400" b="1" dirty="0" err="1"/>
              <a:t>si</a:t>
            </a:r>
            <a:r>
              <a:rPr lang="en-US" sz="1400" b="1" dirty="0"/>
              <a:t> Gen 8 </a:t>
            </a:r>
            <a:r>
              <a:rPr lang="en-US" sz="1400" dirty="0"/>
              <a:t>sunt </a:t>
            </a:r>
            <a:r>
              <a:rPr lang="en-US" sz="1400" dirty="0" err="1"/>
              <a:t>toate</a:t>
            </a:r>
            <a:r>
              <a:rPr lang="en-US" sz="1400" dirty="0"/>
              <a:t> </a:t>
            </a:r>
            <a:r>
              <a:rPr lang="en-US" sz="1400" dirty="0" err="1"/>
              <a:t>incercarile</a:t>
            </a:r>
            <a:r>
              <a:rPr lang="en-US" sz="1400" dirty="0"/>
              <a:t> </a:t>
            </a:r>
            <a:r>
              <a:rPr lang="en-US" sz="1400" dirty="0" err="1"/>
              <a:t>bazate</a:t>
            </a:r>
            <a:r>
              <a:rPr lang="en-US" sz="1400" dirty="0"/>
              <a:t> pe </a:t>
            </a:r>
            <a:r>
              <a:rPr lang="en-US" sz="1400" dirty="0" err="1"/>
              <a:t>formule</a:t>
            </a:r>
            <a:r>
              <a:rPr lang="en-US" sz="1400" dirty="0"/>
              <a:t>. DE </a:t>
            </a:r>
            <a:r>
              <a:rPr lang="en-US" sz="1400" dirty="0" err="1"/>
              <a:t>ce</a:t>
            </a:r>
            <a:r>
              <a:rPr lang="en-US" sz="1400" dirty="0"/>
              <a:t>? </a:t>
            </a:r>
            <a:r>
              <a:rPr lang="en-US" sz="1400" dirty="0" err="1"/>
              <a:t>Pentru</a:t>
            </a:r>
            <a:r>
              <a:rPr lang="en-US" sz="1400" dirty="0"/>
              <a:t> ca </a:t>
            </a:r>
          </a:p>
          <a:p>
            <a:r>
              <a:rPr lang="en-US" sz="1400" dirty="0" err="1"/>
              <a:t>intre</a:t>
            </a:r>
            <a:r>
              <a:rPr lang="en-US" sz="1400" dirty="0"/>
              <a:t> </a:t>
            </a:r>
            <a:r>
              <a:rPr lang="en-US" sz="1400" b="1" dirty="0"/>
              <a:t>Gen1</a:t>
            </a:r>
            <a:r>
              <a:rPr lang="en-US" sz="1400" dirty="0"/>
              <a:t> </a:t>
            </a:r>
            <a:r>
              <a:rPr lang="en-US" sz="1400" dirty="0" err="1"/>
              <a:t>si</a:t>
            </a:r>
            <a:r>
              <a:rPr lang="en-US" sz="1400" dirty="0"/>
              <a:t> </a:t>
            </a:r>
            <a:r>
              <a:rPr lang="en-US" sz="1400" b="1" dirty="0"/>
              <a:t>Gen6</a:t>
            </a:r>
            <a:r>
              <a:rPr lang="en-US" sz="1400" dirty="0"/>
              <a:t> s-a </a:t>
            </a:r>
            <a:r>
              <a:rPr lang="en-US" sz="1400" dirty="0" err="1"/>
              <a:t>incercat</a:t>
            </a:r>
            <a:r>
              <a:rPr lang="en-US" sz="1400" dirty="0"/>
              <a:t> </a:t>
            </a:r>
            <a:r>
              <a:rPr lang="en-US" sz="1400" dirty="0" err="1"/>
              <a:t>generarea</a:t>
            </a:r>
            <a:r>
              <a:rPr lang="en-US" sz="1400" dirty="0"/>
              <a:t> </a:t>
            </a:r>
            <a:r>
              <a:rPr lang="en-US" sz="1400" dirty="0" err="1"/>
              <a:t>datelor</a:t>
            </a:r>
            <a:r>
              <a:rPr lang="en-US" sz="1400" dirty="0"/>
              <a:t> cu </a:t>
            </a:r>
            <a:r>
              <a:rPr lang="en-US" sz="1400" dirty="0" err="1"/>
              <a:t>ajutorul</a:t>
            </a:r>
            <a:r>
              <a:rPr lang="en-US" sz="1400" dirty="0"/>
              <a:t> </a:t>
            </a:r>
            <a:r>
              <a:rPr lang="en-US" sz="1400" dirty="0" err="1"/>
              <a:t>modelelor</a:t>
            </a:r>
            <a:r>
              <a:rPr lang="en-US" sz="1400" dirty="0"/>
              <a:t> </a:t>
            </a:r>
            <a:r>
              <a:rPr lang="en-US" sz="1400" dirty="0" err="1"/>
              <a:t>si</a:t>
            </a:r>
            <a:r>
              <a:rPr lang="en-US" sz="1400" dirty="0"/>
              <a:t> s-a </a:t>
            </a:r>
            <a:r>
              <a:rPr lang="en-US" sz="1400" dirty="0" err="1"/>
              <a:t>constatat</a:t>
            </a:r>
            <a:r>
              <a:rPr lang="en-US" sz="1400" dirty="0"/>
              <a:t> ca la </a:t>
            </a:r>
            <a:r>
              <a:rPr lang="en-US" sz="1400" u="sng" dirty="0"/>
              <a:t>Gen1 nu au </a:t>
            </a:r>
            <a:r>
              <a:rPr lang="en-US" sz="1400" u="sng" dirty="0" err="1"/>
              <a:t>fost</a:t>
            </a:r>
            <a:r>
              <a:rPr lang="en-US" sz="1400" u="sng" dirty="0"/>
              <a:t> calibrate </a:t>
            </a:r>
            <a:r>
              <a:rPr lang="en-US" sz="1400" u="sng" dirty="0" err="1"/>
              <a:t>formulele</a:t>
            </a:r>
            <a:r>
              <a:rPr lang="en-US" sz="1400" dirty="0"/>
              <a:t>. Initial, am </a:t>
            </a:r>
            <a:r>
              <a:rPr lang="en-US" sz="1400" dirty="0" err="1"/>
              <a:t>continuat</a:t>
            </a:r>
            <a:r>
              <a:rPr lang="en-US" sz="1400" dirty="0"/>
              <a:t> “</a:t>
            </a:r>
            <a:r>
              <a:rPr lang="en-US" sz="1400" dirty="0" err="1"/>
              <a:t>punerea</a:t>
            </a:r>
            <a:r>
              <a:rPr lang="en-US" sz="1400" dirty="0"/>
              <a:t> </a:t>
            </a:r>
            <a:r>
              <a:rPr lang="en-US" sz="1400" dirty="0" err="1"/>
              <a:t>impreuna</a:t>
            </a:r>
            <a:r>
              <a:rPr lang="en-US" sz="1400" dirty="0"/>
              <a:t> a </a:t>
            </a:r>
            <a:r>
              <a:rPr lang="en-US" sz="1400" dirty="0" err="1"/>
              <a:t>datelor</a:t>
            </a:r>
            <a:r>
              <a:rPr lang="en-US" sz="1400" dirty="0"/>
              <a:t>” cu </a:t>
            </a:r>
            <a:r>
              <a:rPr lang="en-US" sz="1400" dirty="0" err="1"/>
              <a:t>datele</a:t>
            </a:r>
            <a:r>
              <a:rPr lang="en-US" sz="1400" dirty="0"/>
              <a:t> de la Gen6, </a:t>
            </a:r>
            <a:r>
              <a:rPr lang="en-US" sz="1400" dirty="0" err="1"/>
              <a:t>dar</a:t>
            </a:r>
            <a:r>
              <a:rPr lang="en-US" sz="1400" dirty="0"/>
              <a:t> </a:t>
            </a:r>
            <a:r>
              <a:rPr lang="en-US" sz="1400" b="1" dirty="0"/>
              <a:t>se </a:t>
            </a:r>
            <a:r>
              <a:rPr lang="en-US" sz="1400" b="1" dirty="0" err="1"/>
              <a:t>constata</a:t>
            </a:r>
            <a:r>
              <a:rPr lang="en-US" sz="1400" b="1" dirty="0"/>
              <a:t> ca Gen 6 </a:t>
            </a:r>
            <a:r>
              <a:rPr lang="en-US" sz="1400" b="1" dirty="0" err="1"/>
              <a:t>pleaca</a:t>
            </a:r>
            <a:r>
              <a:rPr lang="en-US" sz="1400" b="1" dirty="0"/>
              <a:t> de la o </a:t>
            </a:r>
            <a:r>
              <a:rPr lang="en-US" sz="1400" b="1" dirty="0" err="1"/>
              <a:t>presupunere</a:t>
            </a:r>
            <a:r>
              <a:rPr lang="en-US" sz="1400" b="1" dirty="0"/>
              <a:t> </a:t>
            </a:r>
            <a:r>
              <a:rPr lang="en-US" sz="1400" b="1" dirty="0" err="1"/>
              <a:t>necalculata</a:t>
            </a:r>
            <a:r>
              <a:rPr lang="en-US" sz="1400" b="1" dirty="0"/>
              <a:t>, </a:t>
            </a:r>
            <a:r>
              <a:rPr lang="en-US" sz="1400" b="1" dirty="0" err="1"/>
              <a:t>acelasi</a:t>
            </a:r>
            <a:r>
              <a:rPr lang="en-US" sz="1400" b="1" dirty="0"/>
              <a:t> </a:t>
            </a:r>
            <a:r>
              <a:rPr lang="en-US" sz="1400" b="1" dirty="0" err="1"/>
              <a:t>lucru</a:t>
            </a:r>
            <a:r>
              <a:rPr lang="en-US" sz="1400" b="1" dirty="0"/>
              <a:t> </a:t>
            </a:r>
            <a:r>
              <a:rPr lang="en-US" sz="1400" b="1" dirty="0" err="1"/>
              <a:t>intamplandu</a:t>
            </a:r>
            <a:r>
              <a:rPr lang="en-US" sz="1400" b="1" dirty="0"/>
              <a:t>-se </a:t>
            </a:r>
            <a:r>
              <a:rPr lang="en-US" sz="1400" b="1" dirty="0" err="1"/>
              <a:t>si</a:t>
            </a:r>
            <a:r>
              <a:rPr lang="en-US" sz="1400" b="1" dirty="0"/>
              <a:t> la Gen7. </a:t>
            </a:r>
          </a:p>
          <a:p>
            <a:r>
              <a:rPr lang="en-US" sz="1400" b="1" i="1" dirty="0">
                <a:solidFill>
                  <a:srgbClr val="FF0000"/>
                </a:solidFill>
              </a:rPr>
              <a:t>Gen8 </a:t>
            </a:r>
            <a:r>
              <a:rPr lang="en-US" sz="1400" b="1" i="1" dirty="0" err="1">
                <a:solidFill>
                  <a:srgbClr val="FF0000"/>
                </a:solidFill>
              </a:rPr>
              <a:t>este</a:t>
            </a:r>
            <a:r>
              <a:rPr lang="en-US" sz="1400" b="1" i="1" dirty="0">
                <a:solidFill>
                  <a:srgbClr val="FF0000"/>
                </a:solidFill>
              </a:rPr>
              <a:t> </a:t>
            </a:r>
            <a:r>
              <a:rPr lang="en-US" sz="1400" b="1" i="1" dirty="0" err="1">
                <a:solidFill>
                  <a:srgbClr val="FF0000"/>
                </a:solidFill>
              </a:rPr>
              <a:t>corecta</a:t>
            </a:r>
            <a:r>
              <a:rPr lang="en-US" sz="1400" b="1" i="1" dirty="0">
                <a:solidFill>
                  <a:srgbClr val="FF0000"/>
                </a:solidFill>
              </a:rPr>
              <a:t> </a:t>
            </a:r>
            <a:r>
              <a:rPr lang="en-US" sz="1400" b="1" i="1" dirty="0" err="1">
                <a:solidFill>
                  <a:srgbClr val="FF0000"/>
                </a:solidFill>
              </a:rPr>
              <a:t>deoarece</a:t>
            </a:r>
            <a:r>
              <a:rPr lang="en-US" sz="1400" b="1" i="1" dirty="0">
                <a:solidFill>
                  <a:srgbClr val="FF0000"/>
                </a:solidFill>
              </a:rPr>
              <a:t> nu se </a:t>
            </a:r>
            <a:r>
              <a:rPr lang="en-US" sz="1400" b="1" i="1" dirty="0" err="1">
                <a:solidFill>
                  <a:srgbClr val="FF0000"/>
                </a:solidFill>
              </a:rPr>
              <a:t>mai</a:t>
            </a:r>
            <a:r>
              <a:rPr lang="en-US" sz="1400" b="1" i="1" dirty="0">
                <a:solidFill>
                  <a:srgbClr val="FF0000"/>
                </a:solidFill>
              </a:rPr>
              <a:t> </a:t>
            </a:r>
            <a:r>
              <a:rPr lang="en-US" sz="1400" b="1" i="1" dirty="0" err="1">
                <a:solidFill>
                  <a:srgbClr val="FF0000"/>
                </a:solidFill>
              </a:rPr>
              <a:t>pleaca</a:t>
            </a:r>
            <a:r>
              <a:rPr lang="en-US" sz="1400" b="1" i="1" dirty="0">
                <a:solidFill>
                  <a:srgbClr val="FF0000"/>
                </a:solidFill>
              </a:rPr>
              <a:t> de la </a:t>
            </a:r>
            <a:r>
              <a:rPr lang="en-US" sz="1400" b="1" i="1" dirty="0" err="1">
                <a:solidFill>
                  <a:srgbClr val="FF0000"/>
                </a:solidFill>
              </a:rPr>
              <a:t>presupunerea</a:t>
            </a:r>
            <a:r>
              <a:rPr lang="en-US" sz="1400" b="1" i="1" dirty="0">
                <a:solidFill>
                  <a:srgbClr val="FF0000"/>
                </a:solidFill>
              </a:rPr>
              <a:t> </a:t>
            </a:r>
            <a:r>
              <a:rPr lang="en-US" sz="1400" b="1" i="1" dirty="0" err="1">
                <a:solidFill>
                  <a:srgbClr val="FF0000"/>
                </a:solidFill>
              </a:rPr>
              <a:t>pretului</a:t>
            </a:r>
            <a:r>
              <a:rPr lang="en-US" sz="1400" b="1" i="1" dirty="0">
                <a:solidFill>
                  <a:srgbClr val="FF0000"/>
                </a:solidFill>
              </a:rPr>
              <a:t> pe </a:t>
            </a:r>
            <a:r>
              <a:rPr lang="en-US" sz="1400" b="1" i="1" dirty="0" err="1">
                <a:solidFill>
                  <a:srgbClr val="FF0000"/>
                </a:solidFill>
              </a:rPr>
              <a:t>metrul</a:t>
            </a:r>
            <a:r>
              <a:rPr lang="en-US" sz="1400" b="1" i="1" dirty="0">
                <a:solidFill>
                  <a:srgbClr val="FF0000"/>
                </a:solidFill>
              </a:rPr>
              <a:t> </a:t>
            </a:r>
            <a:r>
              <a:rPr lang="en-US" sz="1400" b="1" i="1" dirty="0" err="1">
                <a:solidFill>
                  <a:srgbClr val="FF0000"/>
                </a:solidFill>
              </a:rPr>
              <a:t>patrat</a:t>
            </a:r>
            <a:r>
              <a:rPr lang="en-US" sz="1400" b="1" i="1" dirty="0">
                <a:solidFill>
                  <a:srgbClr val="FF0000"/>
                </a:solidFill>
              </a:rPr>
              <a:t> la 1900, ci se </a:t>
            </a:r>
            <a:r>
              <a:rPr lang="en-US" sz="1400" b="1" i="1" dirty="0" err="1">
                <a:solidFill>
                  <a:srgbClr val="FF0000"/>
                </a:solidFill>
              </a:rPr>
              <a:t>incearca</a:t>
            </a:r>
            <a:r>
              <a:rPr lang="en-US" sz="1400" b="1" i="1" dirty="0">
                <a:solidFill>
                  <a:srgbClr val="FF0000"/>
                </a:solidFill>
              </a:rPr>
              <a:t> </a:t>
            </a:r>
            <a:r>
              <a:rPr lang="en-US" sz="1400" b="1" i="1" dirty="0" err="1">
                <a:solidFill>
                  <a:srgbClr val="FF0000"/>
                </a:solidFill>
              </a:rPr>
              <a:t>calcularea</a:t>
            </a:r>
            <a:r>
              <a:rPr lang="en-US" sz="1400" b="1" i="1" dirty="0">
                <a:solidFill>
                  <a:srgbClr val="FF0000"/>
                </a:solidFill>
              </a:rPr>
              <a:t> </a:t>
            </a:r>
            <a:r>
              <a:rPr lang="en-US" sz="1400" b="1" i="1" dirty="0" err="1">
                <a:solidFill>
                  <a:srgbClr val="FF0000"/>
                </a:solidFill>
              </a:rPr>
              <a:t>efectiva</a:t>
            </a:r>
            <a:r>
              <a:rPr lang="en-US" sz="1400" b="1" i="1" dirty="0">
                <a:solidFill>
                  <a:srgbClr val="FF0000"/>
                </a:solidFill>
              </a:rPr>
              <a:t> </a:t>
            </a:r>
            <a:r>
              <a:rPr lang="en-US" sz="1400" b="1" i="1" dirty="0" err="1">
                <a:solidFill>
                  <a:srgbClr val="FF0000"/>
                </a:solidFill>
              </a:rPr>
              <a:t>prin</a:t>
            </a:r>
            <a:r>
              <a:rPr lang="en-US" sz="1400" b="1" i="1" dirty="0">
                <a:solidFill>
                  <a:srgbClr val="FF0000"/>
                </a:solidFill>
              </a:rPr>
              <a:t> </a:t>
            </a:r>
            <a:r>
              <a:rPr lang="en-US" sz="1400" b="1" i="1" dirty="0" err="1">
                <a:solidFill>
                  <a:srgbClr val="FF0000"/>
                </a:solidFill>
              </a:rPr>
              <a:t>aducerea</a:t>
            </a:r>
            <a:r>
              <a:rPr lang="en-US" sz="1400" b="1" i="1" dirty="0">
                <a:solidFill>
                  <a:srgbClr val="FF0000"/>
                </a:solidFill>
              </a:rPr>
              <a:t> in </a:t>
            </a:r>
            <a:r>
              <a:rPr lang="en-US" sz="1400" b="1" i="1" dirty="0" err="1">
                <a:solidFill>
                  <a:srgbClr val="FF0000"/>
                </a:solidFill>
              </a:rPr>
              <a:t>discutie</a:t>
            </a:r>
            <a:r>
              <a:rPr lang="en-US" sz="1400" b="1" i="1" dirty="0">
                <a:solidFill>
                  <a:srgbClr val="FF0000"/>
                </a:solidFill>
              </a:rPr>
              <a:t> a </a:t>
            </a:r>
            <a:r>
              <a:rPr lang="en-US" sz="1400" b="1" i="1" dirty="0" err="1">
                <a:solidFill>
                  <a:srgbClr val="FF0000"/>
                </a:solidFill>
              </a:rPr>
              <a:t>mediei</a:t>
            </a:r>
            <a:r>
              <a:rPr lang="en-US" sz="1400" b="1" i="1" dirty="0">
                <a:solidFill>
                  <a:srgbClr val="FF0000"/>
                </a:solidFill>
              </a:rPr>
              <a:t> </a:t>
            </a:r>
            <a:r>
              <a:rPr lang="en-US" sz="1400" b="1" i="1" dirty="0" err="1">
                <a:solidFill>
                  <a:srgbClr val="FF0000"/>
                </a:solidFill>
              </a:rPr>
              <a:t>salariale</a:t>
            </a:r>
            <a:r>
              <a:rPr lang="en-US" sz="1400" b="1" i="1" dirty="0">
                <a:solidFill>
                  <a:srgbClr val="FF0000"/>
                </a:solidFill>
              </a:rPr>
              <a:t> de la 1900 </a:t>
            </a:r>
            <a:r>
              <a:rPr lang="en-US" sz="1400" b="1" i="1" dirty="0" err="1">
                <a:solidFill>
                  <a:srgbClr val="FF0000"/>
                </a:solidFill>
              </a:rPr>
              <a:t>si</a:t>
            </a:r>
            <a:r>
              <a:rPr lang="en-US" sz="1400" b="1" i="1" dirty="0">
                <a:solidFill>
                  <a:srgbClr val="FF0000"/>
                </a:solidFill>
              </a:rPr>
              <a:t> </a:t>
            </a:r>
            <a:r>
              <a:rPr lang="en-US" sz="1400" b="1" i="1" dirty="0" err="1">
                <a:solidFill>
                  <a:srgbClr val="FF0000"/>
                </a:solidFill>
              </a:rPr>
              <a:t>corelarea</a:t>
            </a:r>
            <a:r>
              <a:rPr lang="en-US" sz="1400" b="1" i="1" dirty="0">
                <a:solidFill>
                  <a:srgbClr val="FF0000"/>
                </a:solidFill>
              </a:rPr>
              <a:t> </a:t>
            </a:r>
            <a:r>
              <a:rPr lang="en-US" sz="1400" b="1" i="1" dirty="0" err="1">
                <a:solidFill>
                  <a:srgbClr val="FF0000"/>
                </a:solidFill>
              </a:rPr>
              <a:t>mediei</a:t>
            </a:r>
            <a:r>
              <a:rPr lang="en-US" sz="1400" b="1" i="1" dirty="0">
                <a:solidFill>
                  <a:srgbClr val="FF0000"/>
                </a:solidFill>
              </a:rPr>
              <a:t> cu </a:t>
            </a:r>
            <a:r>
              <a:rPr lang="en-US" sz="1400" b="1" i="1" dirty="0" err="1">
                <a:solidFill>
                  <a:srgbClr val="FF0000"/>
                </a:solidFill>
              </a:rPr>
              <a:t>devalorizarea</a:t>
            </a:r>
            <a:r>
              <a:rPr lang="en-US" sz="1400" b="1" i="1" dirty="0">
                <a:solidFill>
                  <a:srgbClr val="FF0000"/>
                </a:solidFill>
              </a:rPr>
              <a:t> </a:t>
            </a:r>
            <a:r>
              <a:rPr lang="en-US" sz="1400" b="1" i="1" dirty="0" err="1">
                <a:solidFill>
                  <a:srgbClr val="FF0000"/>
                </a:solidFill>
              </a:rPr>
              <a:t>leului</a:t>
            </a:r>
            <a:r>
              <a:rPr lang="en-US" sz="1400" b="1" i="1" dirty="0">
                <a:solidFill>
                  <a:srgbClr val="FF0000"/>
                </a:solidFill>
              </a:rPr>
              <a:t> (ROL), </a:t>
            </a:r>
            <a:r>
              <a:rPr lang="en-US" sz="1400" b="1" i="1" dirty="0" err="1">
                <a:solidFill>
                  <a:srgbClr val="FF0000"/>
                </a:solidFill>
              </a:rPr>
              <a:t>dinainte</a:t>
            </a:r>
            <a:r>
              <a:rPr lang="en-US" sz="1400" b="1" i="1" dirty="0">
                <a:solidFill>
                  <a:srgbClr val="FF0000"/>
                </a:solidFill>
              </a:rPr>
              <a:t> de 2005.</a:t>
            </a:r>
            <a:endParaRPr lang="ro-RO" sz="1400" b="1" i="1" dirty="0">
              <a:solidFill>
                <a:srgbClr val="FF0000"/>
              </a:solidFill>
            </a:endParaRPr>
          </a:p>
        </p:txBody>
      </p:sp>
      <p:sp>
        <p:nvSpPr>
          <p:cNvPr id="7" name="TextBox 6">
            <a:extLst>
              <a:ext uri="{FF2B5EF4-FFF2-40B4-BE49-F238E27FC236}">
                <a16:creationId xmlns:a16="http://schemas.microsoft.com/office/drawing/2014/main" id="{24B37AAB-B058-E561-4CCC-0DECB97BC91E}"/>
              </a:ext>
            </a:extLst>
          </p:cNvPr>
          <p:cNvSpPr txBox="1"/>
          <p:nvPr/>
        </p:nvSpPr>
        <p:spPr>
          <a:xfrm>
            <a:off x="512064" y="751193"/>
            <a:ext cx="3200400" cy="738664"/>
          </a:xfrm>
          <a:prstGeom prst="rect">
            <a:avLst/>
          </a:prstGeom>
          <a:noFill/>
        </p:spPr>
        <p:txBody>
          <a:bodyPr wrap="square" rtlCol="0">
            <a:spAutoFit/>
          </a:bodyPr>
          <a:lstStyle/>
          <a:p>
            <a:r>
              <a:rPr lang="en-US" sz="1400" i="1" dirty="0" err="1"/>
              <a:t>Ideea</a:t>
            </a:r>
            <a:r>
              <a:rPr lang="en-US" sz="1400" i="1" dirty="0"/>
              <a:t> de </a:t>
            </a:r>
            <a:r>
              <a:rPr lang="en-US" sz="1400" i="1" dirty="0" err="1"/>
              <a:t>baza</a:t>
            </a:r>
            <a:r>
              <a:rPr lang="en-US" sz="1400" i="1" dirty="0"/>
              <a:t> : </a:t>
            </a:r>
            <a:r>
              <a:rPr lang="en-US" sz="1400" i="1" dirty="0" err="1"/>
              <a:t>Prezicerea</a:t>
            </a:r>
            <a:r>
              <a:rPr lang="en-US" sz="1400" i="1" dirty="0"/>
              <a:t> </a:t>
            </a:r>
            <a:r>
              <a:rPr lang="en-US" sz="1400" i="1" dirty="0" err="1"/>
              <a:t>viitorului</a:t>
            </a:r>
            <a:r>
              <a:rPr lang="en-US" sz="1400" i="1" dirty="0"/>
              <a:t> </a:t>
            </a:r>
            <a:r>
              <a:rPr lang="en-US" sz="1400" i="1" dirty="0" err="1"/>
              <a:t>si</a:t>
            </a:r>
            <a:r>
              <a:rPr lang="en-US" sz="1400" i="1" dirty="0"/>
              <a:t> a </a:t>
            </a:r>
            <a:r>
              <a:rPr lang="en-US" sz="1400" i="1" dirty="0" err="1"/>
              <a:t>trecutului</a:t>
            </a:r>
            <a:r>
              <a:rPr lang="en-US" sz="1400" i="1" dirty="0"/>
              <a:t> pe </a:t>
            </a:r>
            <a:r>
              <a:rPr lang="en-US" sz="1400" i="1" dirty="0" err="1"/>
              <a:t>baza</a:t>
            </a:r>
            <a:r>
              <a:rPr lang="en-US" sz="1400" i="1" dirty="0"/>
              <a:t> </a:t>
            </a:r>
            <a:r>
              <a:rPr lang="en-US" sz="1400" i="1" dirty="0" err="1"/>
              <a:t>prezentului</a:t>
            </a:r>
            <a:r>
              <a:rPr lang="en-US" sz="1400" i="1" dirty="0"/>
              <a:t>( 2012 – 2025)</a:t>
            </a:r>
            <a:endParaRPr lang="ro-RO" sz="1400" i="1" dirty="0"/>
          </a:p>
        </p:txBody>
      </p:sp>
    </p:spTree>
    <p:extLst>
      <p:ext uri="{BB962C8B-B14F-4D97-AF65-F5344CB8AC3E}">
        <p14:creationId xmlns:p14="http://schemas.microsoft.com/office/powerpoint/2010/main" val="4020289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F661C9-D892-202D-C868-640EE7B80DBC}"/>
              </a:ext>
            </a:extLst>
          </p:cNvPr>
          <p:cNvSpPr txBox="1"/>
          <p:nvPr/>
        </p:nvSpPr>
        <p:spPr>
          <a:xfrm>
            <a:off x="429768" y="185106"/>
            <a:ext cx="5385816" cy="400110"/>
          </a:xfrm>
          <a:prstGeom prst="rect">
            <a:avLst/>
          </a:prstGeom>
          <a:noFill/>
        </p:spPr>
        <p:txBody>
          <a:bodyPr wrap="square" rtlCol="0">
            <a:spAutoFit/>
          </a:bodyPr>
          <a:lstStyle/>
          <a:p>
            <a:r>
              <a:rPr lang="en-US" sz="2000" b="1" i="1" dirty="0"/>
              <a:t>Despre </a:t>
            </a:r>
            <a:r>
              <a:rPr lang="en-US" sz="2000" b="1" i="1" dirty="0" err="1"/>
              <a:t>Generarea</a:t>
            </a:r>
            <a:r>
              <a:rPr lang="en-US" sz="2000" b="1" i="1" dirty="0"/>
              <a:t> no. 8 …</a:t>
            </a:r>
            <a:endParaRPr lang="ro-RO" sz="2000" b="1" i="1" dirty="0"/>
          </a:p>
        </p:txBody>
      </p:sp>
      <p:sp>
        <p:nvSpPr>
          <p:cNvPr id="3" name="TextBox 2">
            <a:extLst>
              <a:ext uri="{FF2B5EF4-FFF2-40B4-BE49-F238E27FC236}">
                <a16:creationId xmlns:a16="http://schemas.microsoft.com/office/drawing/2014/main" id="{7190646E-0C3A-83D3-2870-7CA124C7C913}"/>
              </a:ext>
            </a:extLst>
          </p:cNvPr>
          <p:cNvSpPr txBox="1"/>
          <p:nvPr/>
        </p:nvSpPr>
        <p:spPr>
          <a:xfrm>
            <a:off x="0" y="585216"/>
            <a:ext cx="5815584" cy="3970318"/>
          </a:xfrm>
          <a:prstGeom prst="rect">
            <a:avLst/>
          </a:prstGeom>
          <a:noFill/>
        </p:spPr>
        <p:txBody>
          <a:bodyPr wrap="square" rtlCol="0">
            <a:spAutoFit/>
          </a:bodyPr>
          <a:lstStyle/>
          <a:p>
            <a:r>
              <a:rPr lang="ro-RO" sz="1400" dirty="0"/>
              <a:t>Seria istorica a pretului pe metru patrat este generata pornind de la o estimare economica de baza pentru anul 1900. Salariul mediu lunar din 1900 este estimat prin ajustarea inversa a salariului mediu lunar din anul 2025, folosind o rata anuala constanta de crestere (g = 2%) pe intreaga perioada 1900–2025.</a:t>
            </a:r>
            <a:endParaRPr lang="en-US" sz="1400" dirty="0"/>
          </a:p>
          <a:p>
            <a:endParaRPr lang="ro-RO" sz="1400" dirty="0"/>
          </a:p>
          <a:p>
            <a:r>
              <a:rPr lang="ro-RO" sz="1400" dirty="0"/>
              <a:t>Pretul initial pe metru patrat este calculat ca raport intre valoarea totala a salariilor obtinute intr-un numar mediu de ani necesari pentru achizitia unei locuinte si suprafata medie a unui apartament. Aceasta formula reflecta ideea economica conform careia pretul locuintei este proportional cu capacitatea de cumparare a populatiei.</a:t>
            </a:r>
            <a:endParaRPr lang="en-US" sz="1400" dirty="0"/>
          </a:p>
          <a:p>
            <a:endParaRPr lang="ro-RO" sz="1400" dirty="0"/>
          </a:p>
          <a:p>
            <a:r>
              <a:rPr lang="ro-RO" sz="1400" dirty="0"/>
              <a:t>Evolutia pretului este apoi simulata anual prin aplicarea unor rate de crestere sau scadere diferite, specifice principalelor perioade istorice (razboaie mondiale, comunism, tranzitie, boom imobiliar, criza), la care se adauga un termen aleator pentru a introduce volatilitate realista. Rezultatul este o serie temporala continua, coerenta economic, care reproduce tendintele majore ale pietei imobiliare in lipsa datelor reale.</a:t>
            </a:r>
          </a:p>
        </p:txBody>
      </p:sp>
      <p:pic>
        <p:nvPicPr>
          <p:cNvPr id="5" name="Picture 4" descr="A computer screen shot of a program&#10;&#10;AI-generated content may be incorrect.">
            <a:extLst>
              <a:ext uri="{FF2B5EF4-FFF2-40B4-BE49-F238E27FC236}">
                <a16:creationId xmlns:a16="http://schemas.microsoft.com/office/drawing/2014/main" id="{55846C06-D941-A597-F4DF-346E7DC77334}"/>
              </a:ext>
            </a:extLst>
          </p:cNvPr>
          <p:cNvPicPr>
            <a:picLocks noChangeAspect="1"/>
          </p:cNvPicPr>
          <p:nvPr/>
        </p:nvPicPr>
        <p:blipFill>
          <a:blip r:embed="rId2"/>
          <a:stretch>
            <a:fillRect/>
          </a:stretch>
        </p:blipFill>
        <p:spPr>
          <a:xfrm>
            <a:off x="5879592" y="0"/>
            <a:ext cx="6202680" cy="5294376"/>
          </a:xfrm>
          <a:prstGeom prst="rect">
            <a:avLst/>
          </a:prstGeom>
        </p:spPr>
      </p:pic>
      <p:pic>
        <p:nvPicPr>
          <p:cNvPr id="7" name="Picture 6">
            <a:extLst>
              <a:ext uri="{FF2B5EF4-FFF2-40B4-BE49-F238E27FC236}">
                <a16:creationId xmlns:a16="http://schemas.microsoft.com/office/drawing/2014/main" id="{8EEB6835-CEA1-FD83-ECEA-2E78855C018A}"/>
              </a:ext>
            </a:extLst>
          </p:cNvPr>
          <p:cNvPicPr>
            <a:picLocks noChangeAspect="1"/>
          </p:cNvPicPr>
          <p:nvPr/>
        </p:nvPicPr>
        <p:blipFill>
          <a:blip r:embed="rId3"/>
          <a:stretch>
            <a:fillRect/>
          </a:stretch>
        </p:blipFill>
        <p:spPr>
          <a:xfrm>
            <a:off x="0" y="4647550"/>
            <a:ext cx="5879592" cy="646826"/>
          </a:xfrm>
          <a:prstGeom prst="rect">
            <a:avLst/>
          </a:prstGeom>
        </p:spPr>
      </p:pic>
      <p:sp>
        <p:nvSpPr>
          <p:cNvPr id="8" name="TextBox 7">
            <a:extLst>
              <a:ext uri="{FF2B5EF4-FFF2-40B4-BE49-F238E27FC236}">
                <a16:creationId xmlns:a16="http://schemas.microsoft.com/office/drawing/2014/main" id="{0D6870AF-C9DE-0A56-5D55-39F2319DBA7E}"/>
              </a:ext>
            </a:extLst>
          </p:cNvPr>
          <p:cNvSpPr txBox="1"/>
          <p:nvPr/>
        </p:nvSpPr>
        <p:spPr>
          <a:xfrm>
            <a:off x="0" y="5811119"/>
            <a:ext cx="5605272" cy="461665"/>
          </a:xfrm>
          <a:prstGeom prst="rect">
            <a:avLst/>
          </a:prstGeom>
          <a:noFill/>
        </p:spPr>
        <p:txBody>
          <a:bodyPr wrap="square" rtlCol="0">
            <a:spAutoFit/>
          </a:bodyPr>
          <a:lstStyle/>
          <a:p>
            <a:r>
              <a:rPr lang="pt-BR" sz="1200" dirty="0"/>
              <a:t>Pentru anii 2008–2010, pretul pe metru patrat este actualizat anual folosind urmatoarea relatie: </a:t>
            </a:r>
            <a:r>
              <a:rPr lang="pt-BR" sz="1200" b="1" dirty="0"/>
              <a:t>pret_curent = pret_anterior × (1 + r) + e</a:t>
            </a:r>
            <a:endParaRPr lang="pt-BR" sz="1200" dirty="0"/>
          </a:p>
        </p:txBody>
      </p:sp>
      <p:sp>
        <p:nvSpPr>
          <p:cNvPr id="9" name="TextBox 8">
            <a:extLst>
              <a:ext uri="{FF2B5EF4-FFF2-40B4-BE49-F238E27FC236}">
                <a16:creationId xmlns:a16="http://schemas.microsoft.com/office/drawing/2014/main" id="{E007321A-4B4A-BD07-BFE3-3CE48ED767E5}"/>
              </a:ext>
            </a:extLst>
          </p:cNvPr>
          <p:cNvSpPr txBox="1"/>
          <p:nvPr/>
        </p:nvSpPr>
        <p:spPr>
          <a:xfrm>
            <a:off x="4983480" y="5294376"/>
            <a:ext cx="4325112" cy="1384995"/>
          </a:xfrm>
          <a:prstGeom prst="rect">
            <a:avLst/>
          </a:prstGeom>
          <a:noFill/>
        </p:spPr>
        <p:txBody>
          <a:bodyPr wrap="square" rtlCol="0">
            <a:spAutoFit/>
          </a:bodyPr>
          <a:lstStyle/>
          <a:p>
            <a:r>
              <a:rPr lang="ro-RO" sz="1200" b="1" dirty="0"/>
              <a:t>unde:</a:t>
            </a:r>
          </a:p>
          <a:p>
            <a:pPr marL="171450" indent="-171450">
              <a:buFont typeface="Wingdings" panose="05000000000000000000" pitchFamily="2" charset="2"/>
              <a:buChar char="§"/>
            </a:pPr>
            <a:r>
              <a:rPr lang="ro-RO" sz="1200" b="1" dirty="0"/>
              <a:t>r</a:t>
            </a:r>
            <a:r>
              <a:rPr lang="ro-RO" sz="1200" dirty="0"/>
              <a:t> este o rata negativa aleatoare, generata uniform in intervalul </a:t>
            </a:r>
            <a:endParaRPr lang="en-US" sz="1200" dirty="0"/>
          </a:p>
          <a:p>
            <a:r>
              <a:rPr lang="en-US" sz="1200" dirty="0"/>
              <a:t> [-</a:t>
            </a:r>
            <a:r>
              <a:rPr lang="ro-RO" sz="1200" dirty="0"/>
              <a:t>0.15, -0.10], care modeleaza scaderea semnificativa a preturilor </a:t>
            </a:r>
            <a:r>
              <a:rPr lang="en-US" sz="1200" dirty="0"/>
              <a:t>          </a:t>
            </a:r>
            <a:r>
              <a:rPr lang="ro-RO" sz="1200" dirty="0"/>
              <a:t>specifica perioadei de criza;</a:t>
            </a:r>
          </a:p>
          <a:p>
            <a:pPr marL="171450" indent="-171450">
              <a:buFont typeface="Wingdings" panose="05000000000000000000" pitchFamily="2" charset="2"/>
              <a:buChar char="§"/>
            </a:pPr>
            <a:r>
              <a:rPr lang="ro-RO" sz="1200" b="1" dirty="0"/>
              <a:t>e</a:t>
            </a:r>
            <a:r>
              <a:rPr lang="ro-RO" sz="1200" dirty="0"/>
              <a:t> este un termen de zgomot aleator, extras dintr-o distributie normala cu medie zero si deviatie standard 5, care introduce fluctuatii anuale realiste.</a:t>
            </a:r>
            <a:endParaRPr lang="en-US" sz="1200" dirty="0"/>
          </a:p>
        </p:txBody>
      </p:sp>
      <p:sp>
        <p:nvSpPr>
          <p:cNvPr id="10" name="TextBox 9">
            <a:extLst>
              <a:ext uri="{FF2B5EF4-FFF2-40B4-BE49-F238E27FC236}">
                <a16:creationId xmlns:a16="http://schemas.microsoft.com/office/drawing/2014/main" id="{56933A97-F142-770E-324D-AE4DBF233788}"/>
              </a:ext>
            </a:extLst>
          </p:cNvPr>
          <p:cNvSpPr txBox="1"/>
          <p:nvPr/>
        </p:nvSpPr>
        <p:spPr>
          <a:xfrm>
            <a:off x="9473184" y="5534119"/>
            <a:ext cx="2718816" cy="1015663"/>
          </a:xfrm>
          <a:prstGeom prst="rect">
            <a:avLst/>
          </a:prstGeom>
          <a:noFill/>
        </p:spPr>
        <p:txBody>
          <a:bodyPr wrap="square" rtlCol="0">
            <a:spAutoFit/>
          </a:bodyPr>
          <a:lstStyle/>
          <a:p>
            <a:r>
              <a:rPr lang="it-IT" sz="1200" dirty="0"/>
              <a:t>Aceasta formula descrie o scadere abrupta a pretului, dar cu variatii de la un an la altul, reflectand instabilitatea si volatilitatea pietei imobiliare in timpul crizei financiare.</a:t>
            </a:r>
            <a:endParaRPr lang="ro-RO" sz="1200" dirty="0"/>
          </a:p>
        </p:txBody>
      </p:sp>
    </p:spTree>
    <p:extLst>
      <p:ext uri="{BB962C8B-B14F-4D97-AF65-F5344CB8AC3E}">
        <p14:creationId xmlns:p14="http://schemas.microsoft.com/office/powerpoint/2010/main" val="750761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3FDAD6-0123-1917-8A66-2A5C3BFB4287}"/>
              </a:ext>
            </a:extLst>
          </p:cNvPr>
          <p:cNvSpPr txBox="1"/>
          <p:nvPr/>
        </p:nvSpPr>
        <p:spPr>
          <a:xfrm>
            <a:off x="283464" y="98798"/>
            <a:ext cx="2871216" cy="369332"/>
          </a:xfrm>
          <a:prstGeom prst="rect">
            <a:avLst/>
          </a:prstGeom>
          <a:noFill/>
        </p:spPr>
        <p:txBody>
          <a:bodyPr wrap="square" rtlCol="0">
            <a:spAutoFit/>
          </a:bodyPr>
          <a:lstStyle/>
          <a:p>
            <a:r>
              <a:rPr lang="en-US" b="1" dirty="0" err="1"/>
              <a:t>merged_data</a:t>
            </a:r>
            <a:r>
              <a:rPr lang="en-US" b="1" dirty="0"/>
              <a:t> </a:t>
            </a:r>
            <a:r>
              <a:rPr lang="en-US" dirty="0"/>
              <a:t>directory </a:t>
            </a:r>
            <a:endParaRPr lang="ro-RO" dirty="0"/>
          </a:p>
        </p:txBody>
      </p:sp>
      <p:pic>
        <p:nvPicPr>
          <p:cNvPr id="4" name="Picture 3" descr="A screenshot of a computer&#10;&#10;AI-generated content may be incorrect.">
            <a:extLst>
              <a:ext uri="{FF2B5EF4-FFF2-40B4-BE49-F238E27FC236}">
                <a16:creationId xmlns:a16="http://schemas.microsoft.com/office/drawing/2014/main" id="{5A742718-C2FC-A45D-A41E-DCF6E3D72CD2}"/>
              </a:ext>
            </a:extLst>
          </p:cNvPr>
          <p:cNvPicPr>
            <a:picLocks noChangeAspect="1"/>
          </p:cNvPicPr>
          <p:nvPr/>
        </p:nvPicPr>
        <p:blipFill>
          <a:blip r:embed="rId2"/>
          <a:stretch>
            <a:fillRect/>
          </a:stretch>
        </p:blipFill>
        <p:spPr>
          <a:xfrm>
            <a:off x="0" y="468130"/>
            <a:ext cx="4966760" cy="2960870"/>
          </a:xfrm>
          <a:prstGeom prst="rect">
            <a:avLst/>
          </a:prstGeom>
        </p:spPr>
      </p:pic>
      <p:sp>
        <p:nvSpPr>
          <p:cNvPr id="5" name="TextBox 4">
            <a:extLst>
              <a:ext uri="{FF2B5EF4-FFF2-40B4-BE49-F238E27FC236}">
                <a16:creationId xmlns:a16="http://schemas.microsoft.com/office/drawing/2014/main" id="{E147D2DA-B3AB-951D-A2FF-E63BF9834729}"/>
              </a:ext>
            </a:extLst>
          </p:cNvPr>
          <p:cNvSpPr txBox="1"/>
          <p:nvPr/>
        </p:nvSpPr>
        <p:spPr>
          <a:xfrm>
            <a:off x="3057144" y="98798"/>
            <a:ext cx="8851392" cy="369332"/>
          </a:xfrm>
          <a:prstGeom prst="rect">
            <a:avLst/>
          </a:prstGeom>
          <a:noFill/>
        </p:spPr>
        <p:txBody>
          <a:bodyPr wrap="square" rtlCol="0">
            <a:spAutoFit/>
          </a:bodyPr>
          <a:lstStyle/>
          <a:p>
            <a:r>
              <a:rPr lang="en-US" dirty="0" err="1"/>
              <a:t>Practic</a:t>
            </a:r>
            <a:r>
              <a:rPr lang="en-US" dirty="0"/>
              <a:t>, </a:t>
            </a:r>
            <a:r>
              <a:rPr lang="en-US" dirty="0" err="1"/>
              <a:t>aici</a:t>
            </a:r>
            <a:r>
              <a:rPr lang="en-US" dirty="0"/>
              <a:t> “</a:t>
            </a:r>
            <a:r>
              <a:rPr lang="en-US" dirty="0" err="1"/>
              <a:t>lipim</a:t>
            </a:r>
            <a:r>
              <a:rPr lang="en-US" dirty="0"/>
              <a:t>” </a:t>
            </a:r>
            <a:r>
              <a:rPr lang="en-US" dirty="0" err="1"/>
              <a:t>rezultatele</a:t>
            </a:r>
            <a:r>
              <a:rPr lang="en-US" dirty="0"/>
              <a:t> generate din </a:t>
            </a:r>
            <a:r>
              <a:rPr lang="en-US" b="1" dirty="0"/>
              <a:t>1900 - 2011</a:t>
            </a:r>
            <a:r>
              <a:rPr lang="en-US" dirty="0"/>
              <a:t>, cu </a:t>
            </a:r>
            <a:r>
              <a:rPr lang="en-US" dirty="0" err="1"/>
              <a:t>datele</a:t>
            </a:r>
            <a:r>
              <a:rPr lang="en-US" dirty="0"/>
              <a:t> </a:t>
            </a:r>
            <a:r>
              <a:rPr lang="en-US" dirty="0" err="1"/>
              <a:t>reale</a:t>
            </a:r>
            <a:r>
              <a:rPr lang="en-US" dirty="0"/>
              <a:t> din </a:t>
            </a:r>
            <a:r>
              <a:rPr lang="en-US" b="1" dirty="0"/>
              <a:t>2012 – 2025.</a:t>
            </a:r>
            <a:endParaRPr lang="ro-RO" b="1" dirty="0"/>
          </a:p>
        </p:txBody>
      </p:sp>
      <p:pic>
        <p:nvPicPr>
          <p:cNvPr id="7" name="Picture 6" descr="A screenshot of a computer screen&#10;&#10;AI-generated content may be incorrect.">
            <a:extLst>
              <a:ext uri="{FF2B5EF4-FFF2-40B4-BE49-F238E27FC236}">
                <a16:creationId xmlns:a16="http://schemas.microsoft.com/office/drawing/2014/main" id="{DD3E2BCA-9ECC-D4EE-2D4D-4DE3736C9416}"/>
              </a:ext>
            </a:extLst>
          </p:cNvPr>
          <p:cNvPicPr>
            <a:picLocks noChangeAspect="1"/>
          </p:cNvPicPr>
          <p:nvPr/>
        </p:nvPicPr>
        <p:blipFill>
          <a:blip r:embed="rId3"/>
          <a:stretch>
            <a:fillRect/>
          </a:stretch>
        </p:blipFill>
        <p:spPr>
          <a:xfrm>
            <a:off x="4966760" y="468130"/>
            <a:ext cx="3612620" cy="6389870"/>
          </a:xfrm>
          <a:prstGeom prst="rect">
            <a:avLst/>
          </a:prstGeom>
        </p:spPr>
      </p:pic>
      <p:pic>
        <p:nvPicPr>
          <p:cNvPr id="9" name="Picture 8" descr="A screenshot of a computer screen&#10;&#10;AI-generated content may be incorrect.">
            <a:extLst>
              <a:ext uri="{FF2B5EF4-FFF2-40B4-BE49-F238E27FC236}">
                <a16:creationId xmlns:a16="http://schemas.microsoft.com/office/drawing/2014/main" id="{1DAAEAA1-5C46-53DB-CD9A-9AEBE80425FE}"/>
              </a:ext>
            </a:extLst>
          </p:cNvPr>
          <p:cNvPicPr>
            <a:picLocks noChangeAspect="1"/>
          </p:cNvPicPr>
          <p:nvPr/>
        </p:nvPicPr>
        <p:blipFill>
          <a:blip r:embed="rId4"/>
          <a:stretch>
            <a:fillRect/>
          </a:stretch>
        </p:blipFill>
        <p:spPr>
          <a:xfrm>
            <a:off x="8579380" y="468130"/>
            <a:ext cx="3612620" cy="6389870"/>
          </a:xfrm>
          <a:prstGeom prst="rect">
            <a:avLst/>
          </a:prstGeom>
        </p:spPr>
      </p:pic>
      <p:pic>
        <p:nvPicPr>
          <p:cNvPr id="11" name="Picture 10" descr="A graph with a line&#10;&#10;AI-generated content may be incorrect.">
            <a:extLst>
              <a:ext uri="{FF2B5EF4-FFF2-40B4-BE49-F238E27FC236}">
                <a16:creationId xmlns:a16="http://schemas.microsoft.com/office/drawing/2014/main" id="{DBB54130-2130-256F-E9FB-E50E9B4F2A35}"/>
              </a:ext>
            </a:extLst>
          </p:cNvPr>
          <p:cNvPicPr>
            <a:picLocks noChangeAspect="1"/>
          </p:cNvPicPr>
          <p:nvPr/>
        </p:nvPicPr>
        <p:blipFill>
          <a:blip r:embed="rId5"/>
          <a:stretch>
            <a:fillRect/>
          </a:stretch>
        </p:blipFill>
        <p:spPr>
          <a:xfrm>
            <a:off x="0" y="3511296"/>
            <a:ext cx="4966760" cy="3346704"/>
          </a:xfrm>
          <a:prstGeom prst="rect">
            <a:avLst/>
          </a:prstGeom>
        </p:spPr>
      </p:pic>
      <p:sp>
        <p:nvSpPr>
          <p:cNvPr id="8" name="TextBox 7">
            <a:extLst>
              <a:ext uri="{FF2B5EF4-FFF2-40B4-BE49-F238E27FC236}">
                <a16:creationId xmlns:a16="http://schemas.microsoft.com/office/drawing/2014/main" id="{6459C8A6-5D20-721A-8E85-98199D3C6AEB}"/>
              </a:ext>
            </a:extLst>
          </p:cNvPr>
          <p:cNvSpPr txBox="1"/>
          <p:nvPr/>
        </p:nvSpPr>
        <p:spPr>
          <a:xfrm>
            <a:off x="677070" y="4837471"/>
            <a:ext cx="3612620" cy="523220"/>
          </a:xfrm>
          <a:prstGeom prst="rect">
            <a:avLst/>
          </a:prstGeom>
          <a:noFill/>
        </p:spPr>
        <p:txBody>
          <a:bodyPr wrap="square" rtlCol="0">
            <a:spAutoFit/>
          </a:bodyPr>
          <a:lstStyle/>
          <a:p>
            <a:r>
              <a:rPr lang="en-US" sz="2800" b="1" dirty="0"/>
              <a:t>6. </a:t>
            </a:r>
            <a:r>
              <a:rPr lang="en-US" sz="2800" b="1" dirty="0" err="1"/>
              <a:t>Intervalul</a:t>
            </a:r>
            <a:r>
              <a:rPr lang="en-US" sz="2800" b="1" dirty="0"/>
              <a:t> 1900-2025</a:t>
            </a:r>
            <a:endParaRPr lang="ro-RO" sz="2800" b="1" dirty="0"/>
          </a:p>
        </p:txBody>
      </p:sp>
    </p:spTree>
    <p:extLst>
      <p:ext uri="{BB962C8B-B14F-4D97-AF65-F5344CB8AC3E}">
        <p14:creationId xmlns:p14="http://schemas.microsoft.com/office/powerpoint/2010/main" val="2371256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program&#10;&#10;AI-generated content may be incorrect.">
            <a:extLst>
              <a:ext uri="{FF2B5EF4-FFF2-40B4-BE49-F238E27FC236}">
                <a16:creationId xmlns:a16="http://schemas.microsoft.com/office/drawing/2014/main" id="{1CB767FD-0FEA-C783-6303-91139F844534}"/>
              </a:ext>
            </a:extLst>
          </p:cNvPr>
          <p:cNvPicPr>
            <a:picLocks noChangeAspect="1"/>
          </p:cNvPicPr>
          <p:nvPr/>
        </p:nvPicPr>
        <p:blipFill>
          <a:blip r:embed="rId2"/>
          <a:stretch>
            <a:fillRect/>
          </a:stretch>
        </p:blipFill>
        <p:spPr>
          <a:xfrm>
            <a:off x="0" y="0"/>
            <a:ext cx="3668233" cy="6858000"/>
          </a:xfrm>
          <a:prstGeom prst="rect">
            <a:avLst/>
          </a:prstGeom>
        </p:spPr>
      </p:pic>
      <p:sp>
        <p:nvSpPr>
          <p:cNvPr id="4" name="TextBox 3">
            <a:extLst>
              <a:ext uri="{FF2B5EF4-FFF2-40B4-BE49-F238E27FC236}">
                <a16:creationId xmlns:a16="http://schemas.microsoft.com/office/drawing/2014/main" id="{7D8936D7-B3BB-C8DA-6549-F10E622CB34D}"/>
              </a:ext>
            </a:extLst>
          </p:cNvPr>
          <p:cNvSpPr txBox="1"/>
          <p:nvPr/>
        </p:nvSpPr>
        <p:spPr>
          <a:xfrm>
            <a:off x="3668233" y="470773"/>
            <a:ext cx="8375904" cy="6647974"/>
          </a:xfrm>
          <a:prstGeom prst="rect">
            <a:avLst/>
          </a:prstGeom>
          <a:noFill/>
        </p:spPr>
        <p:txBody>
          <a:bodyPr wrap="square" rtlCol="0">
            <a:spAutoFit/>
          </a:bodyPr>
          <a:lstStyle/>
          <a:p>
            <a:r>
              <a:rPr lang="en-US" sz="1400" b="1" dirty="0"/>
              <a:t>n</a:t>
            </a:r>
            <a:r>
              <a:rPr lang="ro-RO" sz="1400" b="1" dirty="0"/>
              <a:t>ew_features</a:t>
            </a:r>
            <a:r>
              <a:rPr lang="en-US" sz="1400" b="1" dirty="0"/>
              <a:t>:</a:t>
            </a:r>
            <a:endParaRPr lang="ro-RO" sz="1400" b="1" dirty="0"/>
          </a:p>
          <a:p>
            <a:r>
              <a:rPr lang="ro-RO" sz="1400" dirty="0"/>
              <a:t>Acest director contine seturile de date auxiliare si scripturile folosite pentru reconstructia, curatarea si unificarea indicatorilor macroeconomici utilizati ca variabile explicative in modelele de predictie a preturilor imobiliare.</a:t>
            </a:r>
            <a:endParaRPr lang="en-US" sz="1400" dirty="0"/>
          </a:p>
          <a:p>
            <a:endParaRPr lang="en-US" sz="1400" dirty="0"/>
          </a:p>
          <a:p>
            <a:r>
              <a:rPr lang="ro-RO" sz="1400" b="1" dirty="0"/>
              <a:t>merged_data</a:t>
            </a:r>
            <a:r>
              <a:rPr lang="en-US" sz="1400" b="1" dirty="0"/>
              <a:t>:</a:t>
            </a:r>
            <a:endParaRPr lang="ro-RO" sz="1400" b="1" dirty="0"/>
          </a:p>
          <a:p>
            <a:r>
              <a:rPr lang="ro-RO" sz="1400" dirty="0"/>
              <a:t>Contine fisierele rezultate in urma imbinarilor finale ale tuturor indicatorilor economici utilizati in proiect. Aici sunt centralizate datele privind inflatia, costurile de constructie, dinamica urbana si PIB-ul, aliniate temporal si pregatite pentru antrenarea modelelor de predictie.</a:t>
            </a:r>
          </a:p>
          <a:p>
            <a:endParaRPr lang="ro-RO" sz="1400" dirty="0"/>
          </a:p>
          <a:p>
            <a:r>
              <a:rPr lang="it-IT" sz="1400" b="1" dirty="0"/>
              <a:t>web_data/INFL:</a:t>
            </a:r>
          </a:p>
          <a:p>
            <a:r>
              <a:rPr lang="ro-RO" sz="1400" dirty="0"/>
              <a:t>Include date istorice si reconstruite privind inflatia, pentru perioada 1900–2025. Sunt utilizate atat date reale (post-1970), cat si serii estimate pentru intervalele fara informatii oficiale, impreuna cu scripturi de predictie si validare a evolutiei inflatiei.</a:t>
            </a:r>
            <a:endParaRPr lang="en-US" sz="1400" dirty="0"/>
          </a:p>
          <a:p>
            <a:br>
              <a:rPr lang="it-IT" sz="1400" dirty="0"/>
            </a:br>
            <a:r>
              <a:rPr lang="ro-RO" sz="1400" b="1" dirty="0"/>
              <a:t>web_data/mat_construct_increase</a:t>
            </a:r>
            <a:r>
              <a:rPr lang="en-US" sz="1400" b="1" dirty="0"/>
              <a:t>:</a:t>
            </a:r>
            <a:endParaRPr lang="ro-RO" sz="1400" b="1" dirty="0"/>
          </a:p>
          <a:p>
            <a:r>
              <a:rPr lang="ro-RO" sz="1400" dirty="0"/>
              <a:t>Contine date si scripturi pentru reconstructia indicelui costurilor de constructie pe termen lung, inclusiv curatarea seriilor INS si generarea unei evolutii continue pentru perioada 1900–2025.</a:t>
            </a:r>
          </a:p>
          <a:p>
            <a:br>
              <a:rPr lang="ro-RO" sz="1400" dirty="0"/>
            </a:br>
            <a:r>
              <a:rPr lang="ro-RO" sz="1400" b="1" dirty="0"/>
              <a:t>web_data/PIB</a:t>
            </a:r>
            <a:r>
              <a:rPr lang="en-US" sz="1400" b="1" dirty="0"/>
              <a:t>:</a:t>
            </a:r>
            <a:endParaRPr lang="ro-RO" sz="1400" b="1" dirty="0"/>
          </a:p>
          <a:p>
            <a:r>
              <a:rPr lang="ro-RO" sz="1400" dirty="0"/>
              <a:t>Include date despre produsul intern brut la nivel regional (judetul Dolj si Oltenia). Sunt combinate surse reale (Eurostat, INS) cu serii generate pentru perioadele lipsa, rezultand o serie continua PIB 1900–2025 utilizata ca indicator al dezvoltarii economice locale.</a:t>
            </a:r>
            <a:endParaRPr lang="en-US" sz="1400" dirty="0"/>
          </a:p>
          <a:p>
            <a:endParaRPr lang="en-US" sz="1400" dirty="0"/>
          </a:p>
          <a:p>
            <a:r>
              <a:rPr lang="ro-RO" sz="1400" b="1" dirty="0"/>
              <a:t>web_data/URBAN_INCREASE</a:t>
            </a:r>
            <a:r>
              <a:rPr lang="en-US" sz="1400" b="1" dirty="0"/>
              <a:t>:</a:t>
            </a:r>
            <a:endParaRPr lang="ro-RO" sz="1400" b="1" dirty="0"/>
          </a:p>
          <a:p>
            <a:r>
              <a:rPr lang="ro-RO" sz="1400" dirty="0"/>
              <a:t>Contine date privind evolutia populatiei urbane si a gradului de urbanizare in judetul Dolj. Seria este construita prin combinarea datelor INS cu estimari pentru perioadele istorice, reflectand presiunea urbana asupra pietei imobiliare.</a:t>
            </a:r>
            <a:br>
              <a:rPr lang="ro-RO" dirty="0"/>
            </a:br>
            <a:endParaRPr lang="ro-RO" dirty="0"/>
          </a:p>
          <a:p>
            <a:endParaRPr lang="ro-RO" dirty="0"/>
          </a:p>
        </p:txBody>
      </p:sp>
    </p:spTree>
    <p:extLst>
      <p:ext uri="{BB962C8B-B14F-4D97-AF65-F5344CB8AC3E}">
        <p14:creationId xmlns:p14="http://schemas.microsoft.com/office/powerpoint/2010/main" val="461350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showing a line&#10;&#10;AI-generated content may be incorrect.">
            <a:extLst>
              <a:ext uri="{FF2B5EF4-FFF2-40B4-BE49-F238E27FC236}">
                <a16:creationId xmlns:a16="http://schemas.microsoft.com/office/drawing/2014/main" id="{8D7F7DF3-3115-53D7-EBE6-EFE3283EB3CA}"/>
              </a:ext>
            </a:extLst>
          </p:cNvPr>
          <p:cNvPicPr>
            <a:picLocks noChangeAspect="1"/>
          </p:cNvPicPr>
          <p:nvPr/>
        </p:nvPicPr>
        <p:blipFill>
          <a:blip r:embed="rId2"/>
          <a:stretch>
            <a:fillRect/>
          </a:stretch>
        </p:blipFill>
        <p:spPr>
          <a:xfrm>
            <a:off x="722376" y="1"/>
            <a:ext cx="10460736" cy="4398264"/>
          </a:xfrm>
          <a:prstGeom prst="rect">
            <a:avLst/>
          </a:prstGeom>
        </p:spPr>
      </p:pic>
      <p:sp>
        <p:nvSpPr>
          <p:cNvPr id="4" name="TextBox 3">
            <a:extLst>
              <a:ext uri="{FF2B5EF4-FFF2-40B4-BE49-F238E27FC236}">
                <a16:creationId xmlns:a16="http://schemas.microsoft.com/office/drawing/2014/main" id="{94CD2870-01AE-33B5-30E2-3BC5279778D2}"/>
              </a:ext>
            </a:extLst>
          </p:cNvPr>
          <p:cNvSpPr txBox="1"/>
          <p:nvPr/>
        </p:nvSpPr>
        <p:spPr>
          <a:xfrm>
            <a:off x="0" y="4334231"/>
            <a:ext cx="12188952" cy="2523768"/>
          </a:xfrm>
          <a:prstGeom prst="rect">
            <a:avLst/>
          </a:prstGeom>
          <a:noFill/>
        </p:spPr>
        <p:txBody>
          <a:bodyPr wrap="square" rtlCol="0">
            <a:spAutoFit/>
          </a:bodyPr>
          <a:lstStyle/>
          <a:p>
            <a:r>
              <a:rPr lang="ro-RO" sz="1400" dirty="0"/>
              <a:t>Pentru prognoza pretului pe metru patrat a fost adoptata o </a:t>
            </a:r>
            <a:r>
              <a:rPr lang="ro-RO" sz="1400" b="1" dirty="0"/>
              <a:t>abordare hibrida </a:t>
            </a:r>
            <a:r>
              <a:rPr lang="ro-RO" sz="1400" dirty="0"/>
              <a:t>care </a:t>
            </a:r>
            <a:r>
              <a:rPr lang="ro-RO" sz="1400" b="1" dirty="0"/>
              <a:t>combina un model de tip State Space cu un algoritm de invatare automata CatBoost</a:t>
            </a:r>
            <a:r>
              <a:rPr lang="ro-RO" sz="1400" dirty="0"/>
              <a:t>. Modelul State Space este utilizat pentru captarea trendului pe termen lung si a continuitatii structurale a seriei temporale, fiind capabil sa modeleze evolutii graduale si schimbari de nivel specifice proceselor economice. Acest model asigura o extrapolare stabila si economic plauzibila in afara intervalului de date observate.</a:t>
            </a:r>
            <a:endParaRPr lang="en-US" sz="1400" dirty="0"/>
          </a:p>
          <a:p>
            <a:endParaRPr lang="ro-RO" sz="1400" dirty="0"/>
          </a:p>
          <a:p>
            <a:r>
              <a:rPr lang="ro-RO" sz="1400" dirty="0"/>
              <a:t>CatBoost este utilizat complementar, fiind antrenat pe reziduurile modelului State Space. Rolul sau este de a surprinde relatiile neliniare si corectiile locale care nu pot fi modelate eficient printr-un model pur structural. Prin aceasta separare a rolurilor, CatBoost ajusteaza fin predictiile fara a distorsiona trendul global.</a:t>
            </a:r>
          </a:p>
          <a:p>
            <a:endParaRPr lang="en-US" dirty="0"/>
          </a:p>
          <a:p>
            <a:r>
              <a:rPr lang="ro-RO" sz="1400" dirty="0"/>
              <a:t>Utilizarea exclusiva a modelului State Space permite obtinerea unor prognoze stabile si coerente din punct de vedere economic, insa acestea pot subestima dinamica accelerata a pietei in anumite perioade. Pe de alta parte, modelele de invatare automata aplicate individual tind sa ofere rezultate bune pe intervale scurte, dar pot genera extrapolari instabile sau regresii catre valori medii atunci cand sunt utilizate pentru prognoze pe termen lung. Abordarea hibrida propusa valorifica avantajele ambelor tipuri de modele, oferind prognoze robuste, consistente si adaptate evolutiei reale a pietei imobiliare.</a:t>
            </a:r>
          </a:p>
        </p:txBody>
      </p:sp>
      <p:sp>
        <p:nvSpPr>
          <p:cNvPr id="5" name="TextBox 4">
            <a:extLst>
              <a:ext uri="{FF2B5EF4-FFF2-40B4-BE49-F238E27FC236}">
                <a16:creationId xmlns:a16="http://schemas.microsoft.com/office/drawing/2014/main" id="{EB2ED6FF-8358-7BAD-C43A-7FAFE962D694}"/>
              </a:ext>
            </a:extLst>
          </p:cNvPr>
          <p:cNvSpPr txBox="1"/>
          <p:nvPr/>
        </p:nvSpPr>
        <p:spPr>
          <a:xfrm>
            <a:off x="5799262" y="3429000"/>
            <a:ext cx="5383850" cy="369332"/>
          </a:xfrm>
          <a:prstGeom prst="rect">
            <a:avLst/>
          </a:prstGeom>
          <a:noFill/>
        </p:spPr>
        <p:txBody>
          <a:bodyPr wrap="square" rtlCol="0">
            <a:spAutoFit/>
          </a:bodyPr>
          <a:lstStyle/>
          <a:p>
            <a:r>
              <a:rPr lang="it-IT" b="1" dirty="0"/>
              <a:t>7. Modelarea si prognoza preturilor – abordare hibrida</a:t>
            </a:r>
            <a:endParaRPr lang="ro-RO" b="1" dirty="0"/>
          </a:p>
        </p:txBody>
      </p:sp>
    </p:spTree>
    <p:extLst>
      <p:ext uri="{BB962C8B-B14F-4D97-AF65-F5344CB8AC3E}">
        <p14:creationId xmlns:p14="http://schemas.microsoft.com/office/powerpoint/2010/main" val="4250093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F5D5D"/>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6D293B-8AA1-B6A2-02E4-27D6D27AFE96}"/>
              </a:ext>
            </a:extLst>
          </p:cNvPr>
          <p:cNvSpPr txBox="1"/>
          <p:nvPr/>
        </p:nvSpPr>
        <p:spPr>
          <a:xfrm>
            <a:off x="1091380" y="1105287"/>
            <a:ext cx="10009240" cy="4647426"/>
          </a:xfrm>
          <a:prstGeom prst="rect">
            <a:avLst/>
          </a:prstGeom>
          <a:noFill/>
        </p:spPr>
        <p:txBody>
          <a:bodyPr wrap="square" rtlCol="0">
            <a:spAutoFit/>
          </a:bodyPr>
          <a:lstStyle/>
          <a:p>
            <a:r>
              <a:rPr lang="en-US" sz="3600" b="1" i="1" dirty="0"/>
              <a:t>8. Modul de </a:t>
            </a:r>
            <a:r>
              <a:rPr lang="en-US" sz="3600" b="1" i="1" dirty="0" err="1"/>
              <a:t>vizualizare</a:t>
            </a:r>
            <a:r>
              <a:rPr lang="en-US" sz="3600" b="1" i="1" dirty="0"/>
              <a:t> al </a:t>
            </a:r>
            <a:r>
              <a:rPr lang="en-US" sz="3600" b="1" i="1" dirty="0" err="1"/>
              <a:t>datelor</a:t>
            </a:r>
            <a:endParaRPr lang="en-US" sz="3600" b="1" i="1" dirty="0"/>
          </a:p>
          <a:p>
            <a:pPr marL="514350" indent="-514350">
              <a:buAutoNum type="arabicPeriod" startAt="7"/>
            </a:pPr>
            <a:endParaRPr lang="en-US" sz="2800" b="1" dirty="0"/>
          </a:p>
          <a:p>
            <a:pPr marL="514350" indent="-514350">
              <a:buAutoNum type="arabicPeriod" startAt="7"/>
            </a:pPr>
            <a:endParaRPr lang="en-US" sz="2800" b="1" dirty="0"/>
          </a:p>
          <a:p>
            <a:r>
              <a:rPr lang="en-US" sz="2800" b="1" dirty="0"/>
              <a:t>	   </a:t>
            </a:r>
            <a:r>
              <a:rPr lang="en-US" sz="2400" dirty="0"/>
              <a:t>Modul de </a:t>
            </a:r>
            <a:r>
              <a:rPr lang="en-US" sz="2400" dirty="0" err="1"/>
              <a:t>vizualizare</a:t>
            </a:r>
            <a:r>
              <a:rPr lang="en-US" sz="2400" dirty="0"/>
              <a:t> al </a:t>
            </a:r>
            <a:r>
              <a:rPr lang="en-US" sz="2400" dirty="0" err="1"/>
              <a:t>datelor</a:t>
            </a:r>
            <a:r>
              <a:rPr lang="en-US" sz="2400" dirty="0"/>
              <a:t> se </a:t>
            </a:r>
            <a:r>
              <a:rPr lang="en-US" sz="2400" dirty="0" err="1"/>
              <a:t>realizeaza</a:t>
            </a:r>
            <a:r>
              <a:rPr lang="en-US" sz="2400" dirty="0"/>
              <a:t> </a:t>
            </a:r>
            <a:r>
              <a:rPr lang="en-US" sz="2400" dirty="0" err="1"/>
              <a:t>prin</a:t>
            </a:r>
            <a:r>
              <a:rPr lang="en-US" sz="2400" dirty="0"/>
              <a:t> </a:t>
            </a:r>
            <a:r>
              <a:rPr lang="en-US" sz="2400" dirty="0" err="1"/>
              <a:t>modulul</a:t>
            </a:r>
            <a:r>
              <a:rPr lang="en-US" sz="2400" dirty="0"/>
              <a:t> de     </a:t>
            </a:r>
            <a:r>
              <a:rPr lang="en-US" sz="2400" dirty="0" err="1"/>
              <a:t>interfete</a:t>
            </a:r>
            <a:r>
              <a:rPr lang="en-US" sz="2400" dirty="0"/>
              <a:t> WEB </a:t>
            </a:r>
            <a:r>
              <a:rPr lang="en-US" sz="2400" dirty="0" err="1"/>
              <a:t>streamlit</a:t>
            </a:r>
            <a:r>
              <a:rPr lang="en-US" sz="2400" dirty="0"/>
              <a:t>, care ne </a:t>
            </a:r>
            <a:r>
              <a:rPr lang="en-US" sz="2400" dirty="0" err="1"/>
              <a:t>permite</a:t>
            </a:r>
            <a:r>
              <a:rPr lang="en-US" sz="2400" dirty="0"/>
              <a:t> </a:t>
            </a:r>
            <a:r>
              <a:rPr lang="en-US" sz="2400" dirty="0" err="1"/>
              <a:t>accesarea</a:t>
            </a:r>
            <a:r>
              <a:rPr lang="en-US" sz="2400" dirty="0"/>
              <a:t> </a:t>
            </a:r>
            <a:r>
              <a:rPr lang="en-US" sz="2400" dirty="0" err="1"/>
              <a:t>datelor</a:t>
            </a:r>
            <a:r>
              <a:rPr lang="en-US" sz="2400" dirty="0"/>
              <a:t> in browser. </a:t>
            </a:r>
          </a:p>
          <a:p>
            <a:endParaRPr lang="en-US" sz="2400" dirty="0"/>
          </a:p>
          <a:p>
            <a:r>
              <a:rPr lang="en-US" sz="2400" dirty="0"/>
              <a:t>	Intreg </a:t>
            </a:r>
            <a:r>
              <a:rPr lang="en-US" sz="2400" dirty="0" err="1"/>
              <a:t>proiectul</a:t>
            </a:r>
            <a:r>
              <a:rPr lang="en-US" sz="2400" dirty="0"/>
              <a:t> a </a:t>
            </a:r>
            <a:r>
              <a:rPr lang="en-US" sz="2400" dirty="0" err="1"/>
              <a:t>fost</a:t>
            </a:r>
            <a:r>
              <a:rPr lang="en-US" sz="2400" dirty="0"/>
              <a:t> </a:t>
            </a:r>
            <a:r>
              <a:rPr lang="en-US" sz="2400" dirty="0" err="1"/>
              <a:t>incarcat</a:t>
            </a:r>
            <a:r>
              <a:rPr lang="en-US" sz="2400" dirty="0"/>
              <a:t> pe </a:t>
            </a:r>
            <a:r>
              <a:rPr lang="en-US" sz="2400" dirty="0" err="1"/>
              <a:t>contul</a:t>
            </a:r>
            <a:r>
              <a:rPr lang="en-US" sz="2400" dirty="0"/>
              <a:t> personal de </a:t>
            </a:r>
            <a:r>
              <a:rPr lang="en-US" sz="2400" dirty="0" err="1"/>
              <a:t>github</a:t>
            </a:r>
            <a:r>
              <a:rPr lang="en-US" sz="2400" dirty="0"/>
              <a:t> </a:t>
            </a:r>
            <a:r>
              <a:rPr lang="en-US" sz="2400" dirty="0" err="1"/>
              <a:t>si</a:t>
            </a:r>
            <a:r>
              <a:rPr lang="en-US" sz="2400" dirty="0"/>
              <a:t> </a:t>
            </a:r>
            <a:r>
              <a:rPr lang="en-US" sz="2400" dirty="0" err="1"/>
              <a:t>apoi</a:t>
            </a:r>
            <a:r>
              <a:rPr lang="en-US" sz="2400" dirty="0"/>
              <a:t>, host-</a:t>
            </a:r>
            <a:r>
              <a:rPr lang="en-US" sz="2400" dirty="0" err="1"/>
              <a:t>uit</a:t>
            </a:r>
            <a:r>
              <a:rPr lang="en-US" sz="2400" dirty="0"/>
              <a:t> pe </a:t>
            </a:r>
            <a:r>
              <a:rPr lang="en-US" sz="2400" dirty="0" err="1"/>
              <a:t>platforma</a:t>
            </a:r>
            <a:r>
              <a:rPr lang="en-US" sz="2400" dirty="0"/>
              <a:t> </a:t>
            </a:r>
            <a:r>
              <a:rPr lang="en-US" sz="2400" dirty="0" err="1"/>
              <a:t>celor</a:t>
            </a:r>
            <a:r>
              <a:rPr lang="en-US" sz="2400" dirty="0"/>
              <a:t> de la </a:t>
            </a:r>
            <a:r>
              <a:rPr lang="en-US" sz="2400" dirty="0" err="1"/>
              <a:t>streamlit</a:t>
            </a:r>
            <a:r>
              <a:rPr lang="en-US" sz="2400" dirty="0"/>
              <a:t>.</a:t>
            </a:r>
          </a:p>
          <a:p>
            <a:endParaRPr lang="en-US" sz="2400" dirty="0"/>
          </a:p>
          <a:p>
            <a:endParaRPr lang="en-US" sz="2800" b="1" dirty="0"/>
          </a:p>
          <a:p>
            <a:r>
              <a:rPr lang="en-US" sz="2400" dirty="0"/>
              <a:t>Link-ul </a:t>
            </a:r>
            <a:r>
              <a:rPr lang="en-US" sz="2400" dirty="0" err="1"/>
              <a:t>aplicatiei</a:t>
            </a:r>
            <a:r>
              <a:rPr lang="en-US" sz="2400" dirty="0"/>
              <a:t>: </a:t>
            </a:r>
            <a:r>
              <a:rPr lang="en-US" sz="2800" b="1" dirty="0">
                <a:hlinkClick r:id="rId2"/>
              </a:rPr>
              <a:t>https://craiova-apart-predict.streamlit.app/</a:t>
            </a:r>
            <a:endParaRPr lang="en-US" sz="2800" b="1" dirty="0"/>
          </a:p>
        </p:txBody>
      </p:sp>
    </p:spTree>
    <p:extLst>
      <p:ext uri="{BB962C8B-B14F-4D97-AF65-F5344CB8AC3E}">
        <p14:creationId xmlns:p14="http://schemas.microsoft.com/office/powerpoint/2010/main" val="3643817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AC11B4-C123-5A09-5E72-BFB898A3EDC0}"/>
              </a:ext>
            </a:extLst>
          </p:cNvPr>
          <p:cNvSpPr txBox="1"/>
          <p:nvPr/>
        </p:nvSpPr>
        <p:spPr>
          <a:xfrm>
            <a:off x="757083" y="597455"/>
            <a:ext cx="8367252" cy="5663089"/>
          </a:xfrm>
          <a:prstGeom prst="rect">
            <a:avLst/>
          </a:prstGeom>
          <a:noFill/>
        </p:spPr>
        <p:txBody>
          <a:bodyPr wrap="square">
            <a:spAutoFit/>
          </a:bodyPr>
          <a:lstStyle/>
          <a:p>
            <a:pPr>
              <a:buNone/>
            </a:pPr>
            <a:r>
              <a:rPr lang="en-US" sz="4000" b="1" i="1" dirty="0"/>
              <a:t>9. </a:t>
            </a:r>
            <a:r>
              <a:rPr lang="ro-RO" sz="4000" b="1" i="1" dirty="0"/>
              <a:t>Probleme </a:t>
            </a:r>
            <a:r>
              <a:rPr lang="en-US" sz="4000" b="1" i="1" dirty="0" err="1"/>
              <a:t>i</a:t>
            </a:r>
            <a:r>
              <a:rPr lang="ro-RO" sz="4000" b="1" i="1" dirty="0"/>
              <a:t>nt</a:t>
            </a:r>
            <a:r>
              <a:rPr lang="en-US" sz="4000" b="1" i="1" dirty="0"/>
              <a:t>a</a:t>
            </a:r>
            <a:r>
              <a:rPr lang="ro-RO" sz="4000" b="1" i="1" dirty="0"/>
              <a:t>lnite </a:t>
            </a:r>
            <a:r>
              <a:rPr lang="en-US" sz="4000" b="1" i="1" dirty="0"/>
              <a:t>s</a:t>
            </a:r>
            <a:r>
              <a:rPr lang="ro-RO" sz="4000" b="1" i="1" dirty="0"/>
              <a:t>i solu</a:t>
            </a:r>
            <a:r>
              <a:rPr lang="en-US" sz="4000" b="1" i="1" dirty="0"/>
              <a:t>t</a:t>
            </a:r>
            <a:r>
              <a:rPr lang="ro-RO" sz="4000" b="1" i="1" dirty="0"/>
              <a:t>ii</a:t>
            </a:r>
            <a:endParaRPr lang="en-US" sz="4000" b="1" i="1" dirty="0"/>
          </a:p>
          <a:p>
            <a:pPr>
              <a:buNone/>
            </a:pPr>
            <a:endParaRPr lang="en-US" sz="4000" b="1" i="1" dirty="0"/>
          </a:p>
          <a:p>
            <a:pPr>
              <a:buNone/>
            </a:pPr>
            <a:endParaRPr lang="ro-RO" b="1" dirty="0"/>
          </a:p>
          <a:p>
            <a:pPr lvl="1"/>
            <a:r>
              <a:rPr lang="ro-RO" sz="2400" b="1" dirty="0"/>
              <a:t>Probleme </a:t>
            </a:r>
            <a:r>
              <a:rPr lang="en-US" sz="2400" b="1" dirty="0" err="1"/>
              <a:t>i</a:t>
            </a:r>
            <a:r>
              <a:rPr lang="ro-RO" sz="2400" b="1" dirty="0"/>
              <a:t>nt</a:t>
            </a:r>
            <a:r>
              <a:rPr lang="en-US" sz="2400" b="1" dirty="0"/>
              <a:t>a</a:t>
            </a:r>
            <a:r>
              <a:rPr lang="ro-RO" sz="2400" b="1" dirty="0"/>
              <a:t>lnite</a:t>
            </a:r>
            <a:endParaRPr lang="ro-RO" sz="2400" dirty="0"/>
          </a:p>
          <a:p>
            <a:pPr lvl="1">
              <a:buFont typeface="Arial" panose="020B0604020202020204" pitchFamily="34" charset="0"/>
              <a:buChar char="•"/>
            </a:pPr>
            <a:r>
              <a:rPr lang="en-US" sz="2400" dirty="0"/>
              <a:t> </a:t>
            </a:r>
            <a:r>
              <a:rPr lang="ro-RO" sz="2400" dirty="0"/>
              <a:t>Lipsa datelor istorice </a:t>
            </a:r>
            <a:r>
              <a:rPr lang="en-US" sz="2400" dirty="0" err="1"/>
              <a:t>i</a:t>
            </a:r>
            <a:r>
              <a:rPr lang="ro-RO" sz="2400" dirty="0"/>
              <a:t>nainte de 2012</a:t>
            </a:r>
          </a:p>
          <a:p>
            <a:pPr lvl="1">
              <a:buFont typeface="Arial" panose="020B0604020202020204" pitchFamily="34" charset="0"/>
              <a:buChar char="•"/>
            </a:pPr>
            <a:r>
              <a:rPr lang="en-US" sz="2400" dirty="0"/>
              <a:t> </a:t>
            </a:r>
            <a:r>
              <a:rPr lang="ro-RO" sz="2400" dirty="0"/>
              <a:t>Trecerea de la ROL la RON</a:t>
            </a:r>
          </a:p>
          <a:p>
            <a:pPr lvl="1">
              <a:buFont typeface="Arial" panose="020B0604020202020204" pitchFamily="34" charset="0"/>
              <a:buChar char="•"/>
            </a:pPr>
            <a:r>
              <a:rPr lang="en-US" sz="2400" dirty="0"/>
              <a:t> </a:t>
            </a:r>
            <a:r>
              <a:rPr lang="ro-RO" sz="2400" dirty="0"/>
              <a:t>Schimb</a:t>
            </a:r>
            <a:r>
              <a:rPr lang="en-US" sz="2400" dirty="0"/>
              <a:t>a</a:t>
            </a:r>
            <a:r>
              <a:rPr lang="ro-RO" sz="2400" dirty="0"/>
              <a:t>ri economice majore pe termen lung</a:t>
            </a:r>
          </a:p>
          <a:p>
            <a:pPr lvl="1">
              <a:buFont typeface="Arial" panose="020B0604020202020204" pitchFamily="34" charset="0"/>
              <a:buChar char="•"/>
            </a:pPr>
            <a:r>
              <a:rPr lang="en-US" sz="2400" dirty="0"/>
              <a:t> </a:t>
            </a:r>
            <a:r>
              <a:rPr lang="ro-RO" sz="2400" dirty="0"/>
              <a:t>Zgomot </a:t>
            </a:r>
            <a:r>
              <a:rPr lang="en-US" sz="2400" dirty="0"/>
              <a:t>s</a:t>
            </a:r>
            <a:r>
              <a:rPr lang="ro-RO" sz="2400" dirty="0"/>
              <a:t>i inconsisten</a:t>
            </a:r>
            <a:r>
              <a:rPr lang="en-US" sz="2400" dirty="0"/>
              <a:t>t</a:t>
            </a:r>
            <a:r>
              <a:rPr lang="ro-RO" sz="2400" dirty="0"/>
              <a:t>e </a:t>
            </a:r>
            <a:r>
              <a:rPr lang="en-US" sz="2400" dirty="0"/>
              <a:t>i</a:t>
            </a:r>
            <a:r>
              <a:rPr lang="ro-RO" sz="2400" dirty="0"/>
              <a:t>n seturile de date</a:t>
            </a:r>
            <a:endParaRPr lang="en-US" sz="2400" dirty="0"/>
          </a:p>
          <a:p>
            <a:pPr lvl="1"/>
            <a:endParaRPr lang="ro-RO" sz="2400" dirty="0"/>
          </a:p>
          <a:p>
            <a:pPr lvl="1"/>
            <a:r>
              <a:rPr lang="ro-RO" sz="2400" b="1" dirty="0"/>
              <a:t>Solu</a:t>
            </a:r>
            <a:r>
              <a:rPr lang="en-US" sz="2400" b="1" dirty="0"/>
              <a:t>t</a:t>
            </a:r>
            <a:r>
              <a:rPr lang="ro-RO" sz="2400" b="1" dirty="0"/>
              <a:t>ii aplicate</a:t>
            </a:r>
            <a:endParaRPr lang="ro-RO" sz="2400" dirty="0"/>
          </a:p>
          <a:p>
            <a:pPr lvl="1">
              <a:buFont typeface="Arial" panose="020B0604020202020204" pitchFamily="34" charset="0"/>
              <a:buChar char="•"/>
            </a:pPr>
            <a:r>
              <a:rPr lang="en-US" sz="2400" dirty="0"/>
              <a:t> </a:t>
            </a:r>
            <a:r>
              <a:rPr lang="ro-RO" sz="2400" dirty="0"/>
              <a:t>Generare de date sintetice calibrate pe date reale</a:t>
            </a:r>
          </a:p>
          <a:p>
            <a:pPr lvl="1">
              <a:buFont typeface="Arial" panose="020B0604020202020204" pitchFamily="34" charset="0"/>
              <a:buChar char="•"/>
            </a:pPr>
            <a:r>
              <a:rPr lang="en-US" sz="2400" dirty="0"/>
              <a:t> </a:t>
            </a:r>
            <a:r>
              <a:rPr lang="ro-RO" sz="2400" dirty="0"/>
              <a:t>Normalizare folosind infla</a:t>
            </a:r>
            <a:r>
              <a:rPr lang="en-US" sz="2400" dirty="0"/>
              <a:t>t</a:t>
            </a:r>
            <a:r>
              <a:rPr lang="ro-RO" sz="2400" dirty="0"/>
              <a:t>ia </a:t>
            </a:r>
            <a:r>
              <a:rPr lang="en-US" sz="2400" dirty="0"/>
              <a:t>s</a:t>
            </a:r>
            <a:r>
              <a:rPr lang="ro-RO" sz="2400" dirty="0"/>
              <a:t>i salariile</a:t>
            </a:r>
          </a:p>
          <a:p>
            <a:pPr lvl="1">
              <a:buFont typeface="Arial" panose="020B0604020202020204" pitchFamily="34" charset="0"/>
              <a:buChar char="•"/>
            </a:pPr>
            <a:r>
              <a:rPr lang="en-US" sz="2400" dirty="0"/>
              <a:t> </a:t>
            </a:r>
            <a:r>
              <a:rPr lang="ro-RO" sz="2400" dirty="0"/>
              <a:t>Impunerea unor constr</a:t>
            </a:r>
            <a:r>
              <a:rPr lang="en-US" sz="2400" dirty="0"/>
              <a:t>a</a:t>
            </a:r>
            <a:r>
              <a:rPr lang="ro-RO" sz="2400" dirty="0"/>
              <a:t>ngeri economice </a:t>
            </a:r>
            <a:r>
              <a:rPr lang="en-US" sz="2400" dirty="0"/>
              <a:t>s</a:t>
            </a:r>
            <a:r>
              <a:rPr lang="ro-RO" sz="2400" dirty="0"/>
              <a:t>i smoothing</a:t>
            </a:r>
          </a:p>
          <a:p>
            <a:pPr lvl="1">
              <a:buFont typeface="Arial" panose="020B0604020202020204" pitchFamily="34" charset="0"/>
              <a:buChar char="•"/>
            </a:pPr>
            <a:r>
              <a:rPr lang="en-US" sz="2400" dirty="0"/>
              <a:t> </a:t>
            </a:r>
            <a:r>
              <a:rPr lang="ro-RO" sz="2400" dirty="0"/>
              <a:t>Cur</a:t>
            </a:r>
            <a:r>
              <a:rPr lang="en-US" sz="2400" dirty="0"/>
              <a:t>at</a:t>
            </a:r>
            <a:r>
              <a:rPr lang="ro-RO" sz="2400" dirty="0"/>
              <a:t>are, validare </a:t>
            </a:r>
            <a:r>
              <a:rPr lang="en-US" sz="2400" dirty="0"/>
              <a:t>s</a:t>
            </a:r>
            <a:r>
              <a:rPr lang="ro-RO" sz="2400" dirty="0"/>
              <a:t>i control al datelor</a:t>
            </a:r>
          </a:p>
        </p:txBody>
      </p:sp>
    </p:spTree>
    <p:extLst>
      <p:ext uri="{BB962C8B-B14F-4D97-AF65-F5344CB8AC3E}">
        <p14:creationId xmlns:p14="http://schemas.microsoft.com/office/powerpoint/2010/main" val="2934249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33C136-E8F0-C17A-133F-37279D12AC97}"/>
              </a:ext>
            </a:extLst>
          </p:cNvPr>
          <p:cNvSpPr txBox="1"/>
          <p:nvPr/>
        </p:nvSpPr>
        <p:spPr>
          <a:xfrm>
            <a:off x="953729" y="1336119"/>
            <a:ext cx="9832258" cy="3836115"/>
          </a:xfrm>
          <a:prstGeom prst="rect">
            <a:avLst/>
          </a:prstGeom>
          <a:noFill/>
        </p:spPr>
        <p:txBody>
          <a:bodyPr wrap="square">
            <a:spAutoFit/>
          </a:bodyPr>
          <a:lstStyle/>
          <a:p>
            <a:pPr>
              <a:buNone/>
            </a:pPr>
            <a:r>
              <a:rPr lang="en-US" sz="4000" b="1" i="1" dirty="0"/>
              <a:t>10. </a:t>
            </a:r>
            <a:r>
              <a:rPr lang="ro-RO" sz="4000" b="1" i="1" dirty="0"/>
              <a:t>Planuri de dezvoltare viitoare</a:t>
            </a:r>
            <a:endParaRPr lang="en-US" sz="4000" b="1" i="1" dirty="0"/>
          </a:p>
          <a:p>
            <a:pPr>
              <a:buNone/>
            </a:pPr>
            <a:endParaRPr lang="ro-RO" b="1" dirty="0"/>
          </a:p>
          <a:p>
            <a:pPr>
              <a:lnSpc>
                <a:spcPct val="200000"/>
              </a:lnSpc>
              <a:buFont typeface="Arial" panose="020B0604020202020204" pitchFamily="34" charset="0"/>
              <a:buChar char="•"/>
            </a:pPr>
            <a:r>
              <a:rPr lang="en-US" sz="2400" dirty="0"/>
              <a:t> </a:t>
            </a:r>
            <a:r>
              <a:rPr lang="ro-RO" sz="2400" dirty="0"/>
              <a:t>Integrarea unor indicatori economici oficiali (INS, Eurostat)</a:t>
            </a:r>
          </a:p>
          <a:p>
            <a:pPr>
              <a:lnSpc>
                <a:spcPct val="200000"/>
              </a:lnSpc>
              <a:buFont typeface="Arial" panose="020B0604020202020204" pitchFamily="34" charset="0"/>
              <a:buChar char="•"/>
            </a:pPr>
            <a:r>
              <a:rPr lang="en-US" sz="2400" dirty="0"/>
              <a:t> I</a:t>
            </a:r>
            <a:r>
              <a:rPr lang="ro-RO" sz="2400" dirty="0"/>
              <a:t>mbun</a:t>
            </a:r>
            <a:r>
              <a:rPr lang="en-US" sz="2400" dirty="0"/>
              <a:t>a</a:t>
            </a:r>
            <a:r>
              <a:rPr lang="ro-RO" sz="2400" dirty="0"/>
              <a:t>t</a:t>
            </a:r>
            <a:r>
              <a:rPr lang="en-US" sz="2400" dirty="0"/>
              <a:t>at</a:t>
            </a:r>
            <a:r>
              <a:rPr lang="ro-RO" sz="2400" dirty="0"/>
              <a:t>irea modelelor de tip time-series (ARIMA, Prophet, LSTM)</a:t>
            </a:r>
          </a:p>
          <a:p>
            <a:pPr>
              <a:lnSpc>
                <a:spcPct val="200000"/>
              </a:lnSpc>
              <a:buFont typeface="Arial" panose="020B0604020202020204" pitchFamily="34" charset="0"/>
              <a:buChar char="•"/>
            </a:pPr>
            <a:r>
              <a:rPr lang="en-US" sz="2400" dirty="0"/>
              <a:t> </a:t>
            </a:r>
            <a:r>
              <a:rPr lang="ro-RO" sz="2400" dirty="0"/>
              <a:t>Extinderea analizei la alte ora</a:t>
            </a:r>
            <a:r>
              <a:rPr lang="en-US" sz="2400" dirty="0"/>
              <a:t>s</a:t>
            </a:r>
            <a:r>
              <a:rPr lang="ro-RO" sz="2400" dirty="0"/>
              <a:t>e din Rom</a:t>
            </a:r>
            <a:r>
              <a:rPr lang="en-US" sz="2400" dirty="0"/>
              <a:t>a</a:t>
            </a:r>
            <a:r>
              <a:rPr lang="ro-RO" sz="2400" dirty="0"/>
              <a:t>nia</a:t>
            </a:r>
          </a:p>
          <a:p>
            <a:pPr>
              <a:lnSpc>
                <a:spcPct val="200000"/>
              </a:lnSpc>
              <a:buFont typeface="Arial" panose="020B0604020202020204" pitchFamily="34" charset="0"/>
              <a:buChar char="•"/>
            </a:pPr>
            <a:r>
              <a:rPr lang="en-US" sz="2400" dirty="0"/>
              <a:t> </a:t>
            </a:r>
            <a:r>
              <a:rPr lang="ro-RO" sz="2400" dirty="0"/>
              <a:t>Dezvoltarea unui dashboard</a:t>
            </a:r>
            <a:r>
              <a:rPr lang="en-US" sz="2400" dirty="0"/>
              <a:t> </a:t>
            </a:r>
            <a:r>
              <a:rPr lang="en-US" sz="2400" dirty="0" err="1"/>
              <a:t>mult</a:t>
            </a:r>
            <a:r>
              <a:rPr lang="en-US" sz="2400" dirty="0"/>
              <a:t> </a:t>
            </a:r>
            <a:r>
              <a:rPr lang="en-US" sz="2400" dirty="0" err="1"/>
              <a:t>mai</a:t>
            </a:r>
            <a:r>
              <a:rPr lang="ro-RO" sz="2400" dirty="0"/>
              <a:t> interactiv pentru analiz</a:t>
            </a:r>
            <a:r>
              <a:rPr lang="en-US" sz="2400" dirty="0"/>
              <a:t>a</a:t>
            </a:r>
            <a:r>
              <a:rPr lang="ro-RO" sz="2400" dirty="0"/>
              <a:t> </a:t>
            </a:r>
            <a:r>
              <a:rPr lang="en-US" sz="2400" dirty="0"/>
              <a:t>s</a:t>
            </a:r>
            <a:r>
              <a:rPr lang="ro-RO" sz="2400" dirty="0"/>
              <a:t>i predic</a:t>
            </a:r>
            <a:r>
              <a:rPr lang="en-US" sz="2400" dirty="0"/>
              <a:t>t</a:t>
            </a:r>
            <a:r>
              <a:rPr lang="ro-RO" sz="2400" dirty="0"/>
              <a:t>ii</a:t>
            </a:r>
          </a:p>
        </p:txBody>
      </p:sp>
    </p:spTree>
    <p:extLst>
      <p:ext uri="{BB962C8B-B14F-4D97-AF65-F5344CB8AC3E}">
        <p14:creationId xmlns:p14="http://schemas.microsoft.com/office/powerpoint/2010/main" val="1497652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C61907-0DC0-27E9-10DD-C6D2A92B8165}"/>
              </a:ext>
            </a:extLst>
          </p:cNvPr>
          <p:cNvSpPr txBox="1"/>
          <p:nvPr/>
        </p:nvSpPr>
        <p:spPr>
          <a:xfrm>
            <a:off x="1255778" y="603503"/>
            <a:ext cx="5074920" cy="584775"/>
          </a:xfrm>
          <a:prstGeom prst="rect">
            <a:avLst/>
          </a:prstGeom>
          <a:noFill/>
        </p:spPr>
        <p:txBody>
          <a:bodyPr wrap="square" rtlCol="0">
            <a:spAutoFit/>
          </a:bodyPr>
          <a:lstStyle/>
          <a:p>
            <a:r>
              <a:rPr lang="en-US" sz="3200" b="1" dirty="0"/>
              <a:t>11. WEBOGRAFIE</a:t>
            </a:r>
            <a:endParaRPr lang="ro-RO" sz="3200" b="1" dirty="0"/>
          </a:p>
        </p:txBody>
      </p:sp>
      <p:sp>
        <p:nvSpPr>
          <p:cNvPr id="4" name="TextBox 3">
            <a:extLst>
              <a:ext uri="{FF2B5EF4-FFF2-40B4-BE49-F238E27FC236}">
                <a16:creationId xmlns:a16="http://schemas.microsoft.com/office/drawing/2014/main" id="{B4978874-FB83-A9CF-1A42-1C84DA4DE559}"/>
              </a:ext>
            </a:extLst>
          </p:cNvPr>
          <p:cNvSpPr txBox="1"/>
          <p:nvPr/>
        </p:nvSpPr>
        <p:spPr>
          <a:xfrm>
            <a:off x="1255778" y="1900166"/>
            <a:ext cx="6094476" cy="369332"/>
          </a:xfrm>
          <a:prstGeom prst="rect">
            <a:avLst/>
          </a:prstGeom>
          <a:noFill/>
        </p:spPr>
        <p:txBody>
          <a:bodyPr wrap="square">
            <a:spAutoFit/>
          </a:bodyPr>
          <a:lstStyle/>
          <a:p>
            <a:r>
              <a:rPr lang="ro-RO" dirty="0">
                <a:hlinkClick r:id="rId2"/>
              </a:rPr>
              <a:t>https://www.imobiliare.ro/indicele-imobiliare-ro/craiova</a:t>
            </a:r>
            <a:endParaRPr lang="ro-RO" dirty="0"/>
          </a:p>
        </p:txBody>
      </p:sp>
      <p:sp>
        <p:nvSpPr>
          <p:cNvPr id="6" name="TextBox 5">
            <a:extLst>
              <a:ext uri="{FF2B5EF4-FFF2-40B4-BE49-F238E27FC236}">
                <a16:creationId xmlns:a16="http://schemas.microsoft.com/office/drawing/2014/main" id="{97A2FD48-B938-3E25-AF25-D409D538CF52}"/>
              </a:ext>
            </a:extLst>
          </p:cNvPr>
          <p:cNvSpPr txBox="1"/>
          <p:nvPr/>
        </p:nvSpPr>
        <p:spPr>
          <a:xfrm>
            <a:off x="1255778" y="2383459"/>
            <a:ext cx="9144762" cy="369332"/>
          </a:xfrm>
          <a:prstGeom prst="rect">
            <a:avLst/>
          </a:prstGeom>
          <a:noFill/>
        </p:spPr>
        <p:txBody>
          <a:bodyPr wrap="square">
            <a:spAutoFit/>
          </a:bodyPr>
          <a:lstStyle/>
          <a:p>
            <a:r>
              <a:rPr lang="ro-RO" dirty="0">
                <a:hlinkClick r:id="rId3"/>
              </a:rPr>
              <a:t>https://ec.europa.eu/eurostat/databrowser/view/tec00001__custom_19266702/default/table</a:t>
            </a:r>
            <a:endParaRPr lang="ro-RO" dirty="0"/>
          </a:p>
        </p:txBody>
      </p:sp>
      <p:sp>
        <p:nvSpPr>
          <p:cNvPr id="7" name="TextBox 6">
            <a:extLst>
              <a:ext uri="{FF2B5EF4-FFF2-40B4-BE49-F238E27FC236}">
                <a16:creationId xmlns:a16="http://schemas.microsoft.com/office/drawing/2014/main" id="{AFEC1E88-F4A9-34BE-05BD-9C8339237DA9}"/>
              </a:ext>
            </a:extLst>
          </p:cNvPr>
          <p:cNvSpPr txBox="1"/>
          <p:nvPr/>
        </p:nvSpPr>
        <p:spPr>
          <a:xfrm>
            <a:off x="1255778" y="2981386"/>
            <a:ext cx="6739128" cy="369332"/>
          </a:xfrm>
          <a:prstGeom prst="rect">
            <a:avLst/>
          </a:prstGeom>
          <a:noFill/>
        </p:spPr>
        <p:txBody>
          <a:bodyPr wrap="square" rtlCol="0">
            <a:spAutoFit/>
          </a:bodyPr>
          <a:lstStyle/>
          <a:p>
            <a:r>
              <a:rPr lang="ro-RO" dirty="0">
                <a:hlinkClick r:id="rId4"/>
              </a:rPr>
              <a:t>https://insse.ro/cms/ro/content/ipc%E2%80%93serie-de-date-anuala</a:t>
            </a:r>
            <a:endParaRPr lang="ro-RO" dirty="0"/>
          </a:p>
        </p:txBody>
      </p:sp>
      <p:sp>
        <p:nvSpPr>
          <p:cNvPr id="8" name="TextBox 7">
            <a:extLst>
              <a:ext uri="{FF2B5EF4-FFF2-40B4-BE49-F238E27FC236}">
                <a16:creationId xmlns:a16="http://schemas.microsoft.com/office/drawing/2014/main" id="{78895E50-B70B-BF82-0B00-87FE42C0A2F9}"/>
              </a:ext>
            </a:extLst>
          </p:cNvPr>
          <p:cNvSpPr txBox="1"/>
          <p:nvPr/>
        </p:nvSpPr>
        <p:spPr>
          <a:xfrm>
            <a:off x="1255778" y="3579313"/>
            <a:ext cx="4651246" cy="369332"/>
          </a:xfrm>
          <a:prstGeom prst="rect">
            <a:avLst/>
          </a:prstGeom>
          <a:noFill/>
        </p:spPr>
        <p:txBody>
          <a:bodyPr wrap="square" rtlCol="0">
            <a:spAutoFit/>
          </a:bodyPr>
          <a:lstStyle/>
          <a:p>
            <a:r>
              <a:rPr lang="ro-RO" dirty="0">
                <a:hlinkClick r:id="rId5"/>
              </a:rPr>
              <a:t>https://cnp.ro/economia-regionala-a-romaniei/</a:t>
            </a:r>
            <a:endParaRPr lang="ro-RO" dirty="0"/>
          </a:p>
        </p:txBody>
      </p:sp>
      <p:sp>
        <p:nvSpPr>
          <p:cNvPr id="9" name="TextBox 8">
            <a:extLst>
              <a:ext uri="{FF2B5EF4-FFF2-40B4-BE49-F238E27FC236}">
                <a16:creationId xmlns:a16="http://schemas.microsoft.com/office/drawing/2014/main" id="{FC679412-B44D-51C8-D9F5-8849FAFE4F1B}"/>
              </a:ext>
            </a:extLst>
          </p:cNvPr>
          <p:cNvSpPr txBox="1"/>
          <p:nvPr/>
        </p:nvSpPr>
        <p:spPr>
          <a:xfrm>
            <a:off x="1255778" y="4177240"/>
            <a:ext cx="8759952" cy="369332"/>
          </a:xfrm>
          <a:prstGeom prst="rect">
            <a:avLst/>
          </a:prstGeom>
          <a:noFill/>
        </p:spPr>
        <p:txBody>
          <a:bodyPr wrap="square" rtlCol="0">
            <a:spAutoFit/>
          </a:bodyPr>
          <a:lstStyle/>
          <a:p>
            <a:r>
              <a:rPr lang="ro-RO" dirty="0">
                <a:hlinkClick r:id="rId6"/>
              </a:rPr>
              <a:t>https://www.primariacraiova.ro/pozearticole/userfiles/files/RAPORT%202015%20final.pdf</a:t>
            </a:r>
            <a:endParaRPr lang="ro-RO" dirty="0"/>
          </a:p>
        </p:txBody>
      </p:sp>
      <p:sp>
        <p:nvSpPr>
          <p:cNvPr id="10" name="TextBox 9">
            <a:extLst>
              <a:ext uri="{FF2B5EF4-FFF2-40B4-BE49-F238E27FC236}">
                <a16:creationId xmlns:a16="http://schemas.microsoft.com/office/drawing/2014/main" id="{1DC75FC1-0D3F-4DC1-74C5-D15B78C8C9EA}"/>
              </a:ext>
            </a:extLst>
          </p:cNvPr>
          <p:cNvSpPr txBox="1"/>
          <p:nvPr/>
        </p:nvSpPr>
        <p:spPr>
          <a:xfrm>
            <a:off x="1255778" y="5036558"/>
            <a:ext cx="5038344" cy="369332"/>
          </a:xfrm>
          <a:prstGeom prst="rect">
            <a:avLst/>
          </a:prstGeom>
          <a:noFill/>
        </p:spPr>
        <p:txBody>
          <a:bodyPr wrap="square" rtlCol="0">
            <a:spAutoFit/>
          </a:bodyPr>
          <a:lstStyle/>
          <a:p>
            <a:r>
              <a:rPr lang="en-US" dirty="0"/>
              <a:t>Other additional info : GOOGLE</a:t>
            </a:r>
            <a:endParaRPr lang="ro-RO" dirty="0"/>
          </a:p>
        </p:txBody>
      </p:sp>
    </p:spTree>
    <p:extLst>
      <p:ext uri="{BB962C8B-B14F-4D97-AF65-F5344CB8AC3E}">
        <p14:creationId xmlns:p14="http://schemas.microsoft.com/office/powerpoint/2010/main" val="2163630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4344E4-B356-962F-9898-F83D6BA82206}"/>
              </a:ext>
            </a:extLst>
          </p:cNvPr>
          <p:cNvSpPr txBox="1"/>
          <p:nvPr/>
        </p:nvSpPr>
        <p:spPr>
          <a:xfrm>
            <a:off x="565355" y="2505670"/>
            <a:ext cx="10412361" cy="923330"/>
          </a:xfrm>
          <a:prstGeom prst="rect">
            <a:avLst/>
          </a:prstGeom>
          <a:noFill/>
        </p:spPr>
        <p:txBody>
          <a:bodyPr wrap="square" rtlCol="0">
            <a:spAutoFit/>
          </a:bodyPr>
          <a:lstStyle/>
          <a:p>
            <a:r>
              <a:rPr lang="en-US" dirty="0"/>
              <a:t>	</a:t>
            </a:r>
            <a:r>
              <a:rPr lang="en-US" sz="5400" b="1" dirty="0"/>
              <a:t>VA MULTUMESC  </a:t>
            </a:r>
            <a:r>
              <a:rPr lang="en-US" sz="5400" b="1" dirty="0" err="1"/>
              <a:t>pentru</a:t>
            </a:r>
            <a:r>
              <a:rPr lang="en-US" sz="5400" b="1" dirty="0"/>
              <a:t> </a:t>
            </a:r>
            <a:r>
              <a:rPr lang="en-US" sz="5400" b="1" dirty="0" err="1"/>
              <a:t>atentie</a:t>
            </a:r>
            <a:r>
              <a:rPr lang="en-US" sz="5400" b="1" dirty="0"/>
              <a:t>!</a:t>
            </a:r>
            <a:endParaRPr lang="ro-RO" b="1" dirty="0"/>
          </a:p>
        </p:txBody>
      </p:sp>
    </p:spTree>
    <p:extLst>
      <p:ext uri="{BB962C8B-B14F-4D97-AF65-F5344CB8AC3E}">
        <p14:creationId xmlns:p14="http://schemas.microsoft.com/office/powerpoint/2010/main" val="99710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747</TotalTime>
  <Words>2279</Words>
  <Application>Microsoft Office PowerPoint</Application>
  <PresentationFormat>Widescreen</PresentationFormat>
  <Paragraphs>172</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Arial Rounded MT Bold</vt:lpstr>
      <vt:lpstr>Calibri</vt:lpstr>
      <vt:lpstr>Calibri Light</vt:lpstr>
      <vt:lpstr>Franklin Gothic Demi</vt:lpstr>
      <vt:lpstr>Wingdings</vt:lpstr>
      <vt:lpstr>Office Theme</vt:lpstr>
      <vt:lpstr>Apartment Prices Craiova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Andrei Necsulea</dc:creator>
  <cp:lastModifiedBy>Andrei Necsulea</cp:lastModifiedBy>
  <cp:revision>58</cp:revision>
  <dcterms:created xsi:type="dcterms:W3CDTF">2025-12-03T10:42:29Z</dcterms:created>
  <dcterms:modified xsi:type="dcterms:W3CDTF">2026-01-17T13:06:03Z</dcterms:modified>
</cp:coreProperties>
</file>